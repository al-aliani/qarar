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37C9"/>
    <a:srgbClr val="3F3F3F"/>
    <a:srgbClr val="014067"/>
    <a:srgbClr val="014E7D"/>
    <a:srgbClr val="013657"/>
    <a:srgbClr val="01456F"/>
    <a:srgbClr val="014B79"/>
    <a:srgbClr val="002774"/>
    <a:srgbClr val="929A4A"/>
    <a:srgbClr val="EAB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74" autoAdjust="0"/>
  </p:normalViewPr>
  <p:slideViewPr>
    <p:cSldViewPr snapToGrid="0" showGuides="1">
      <p:cViewPr varScale="1">
        <p:scale>
          <a:sx n="73" d="100"/>
          <a:sy n="73" d="100"/>
        </p:scale>
        <p:origin x="618" y="72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5CCECE-7ADF-478A-B574-518A38234037}" type="doc">
      <dgm:prSet loTypeId="urn:microsoft.com/office/officeart/2005/8/layout/radial6" loCatId="relationship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32F6BAC1-B112-4B47-98C8-21CD13A02F41}">
      <dgm:prSet phldrT="[Text]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cap="none" spc="0" dirty="0" smtClean="0">
              <a:ln w="22225">
                <a:prstDash val="solid"/>
              </a:ln>
              <a:solidFill>
                <a:srgbClr val="0937C9"/>
              </a:solidFill>
              <a:effectLst/>
            </a:rPr>
            <a:t>HR</a:t>
          </a:r>
          <a:endParaRPr lang="en-US" b="1" cap="none" spc="0" dirty="0">
            <a:ln w="22225">
              <a:prstDash val="solid"/>
            </a:ln>
            <a:solidFill>
              <a:srgbClr val="0937C9"/>
            </a:solidFill>
            <a:effectLst/>
          </a:endParaRPr>
        </a:p>
      </dgm:t>
    </dgm:pt>
    <dgm:pt modelId="{7F6B2BDA-55DB-42CC-806D-FC6095F94428}" type="parTrans" cxnId="{CEE17806-40F5-4174-840D-ED37D1DFC0CD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2B0440EA-9D75-4743-B33C-4E20F41D1267}" type="sibTrans" cxnId="{CEE17806-40F5-4174-840D-ED37D1DFC0CD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FE84F53B-040A-4374-8BBF-34E3A5E76D43}">
      <dgm:prSet phldrT="[Text]" custT="1"/>
      <dgm:spPr/>
      <dgm:t>
        <a:bodyPr/>
        <a:lstStyle/>
        <a:p>
          <a:r>
            <a:rPr lang="en-US" sz="900" b="1" cap="none" spc="0" dirty="0" smtClean="0">
              <a:ln w="22225">
                <a:prstDash val="solid"/>
              </a:ln>
              <a:effectLst/>
              <a:latin typeface="Bahnschrift" panose="020B0502040204020203" pitchFamily="34" charset="0"/>
            </a:rPr>
            <a:t>PERSONNEL</a:t>
          </a:r>
          <a:endParaRPr lang="en-US" sz="900" b="1" cap="none" spc="0" dirty="0">
            <a:ln w="22225">
              <a:prstDash val="solid"/>
            </a:ln>
            <a:effectLst/>
            <a:latin typeface="Bahnschrift" panose="020B0502040204020203" pitchFamily="34" charset="0"/>
          </a:endParaRPr>
        </a:p>
      </dgm:t>
    </dgm:pt>
    <dgm:pt modelId="{5F88CF8B-F6AC-40D0-95D7-3E3D92BA9055}" type="parTrans" cxnId="{55AF080B-8DCA-43FB-B9ED-A3501FA289B2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55A79829-D683-4E3A-B6C8-AEACF1064B84}" type="sibTrans" cxnId="{55AF080B-8DCA-43FB-B9ED-A3501FA289B2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967BA22C-D30B-4DA5-862A-A5E97B86085E}">
      <dgm:prSet phldrT="[Text]" custT="1"/>
      <dgm:spPr/>
      <dgm:t>
        <a:bodyPr/>
        <a:lstStyle/>
        <a:p>
          <a:r>
            <a:rPr lang="en-US" sz="900" dirty="0" smtClean="0"/>
            <a:t>RECRUITMENT &amp; selection</a:t>
          </a:r>
          <a:endParaRPr lang="en-US" sz="900" dirty="0"/>
        </a:p>
      </dgm:t>
    </dgm:pt>
    <dgm:pt modelId="{278739C2-D9F7-461D-AC88-3C546A68AD46}" type="parTrans" cxnId="{B8054764-24AE-49AF-86C6-AA8CE6863018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2081EE32-9485-4960-8E08-F7C7CF745426}" type="sibTrans" cxnId="{B8054764-24AE-49AF-86C6-AA8CE6863018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0E46BCAA-3327-41AF-9402-8E60D0E3CE0E}">
      <dgm:prSet phldrT="[Text]" custT="1"/>
      <dgm:spPr/>
      <dgm:t>
        <a:bodyPr/>
        <a:lstStyle/>
        <a:p>
          <a:r>
            <a:rPr lang="en-US" sz="1400" b="1" dirty="0" smtClean="0"/>
            <a:t>planning</a:t>
          </a:r>
          <a:endParaRPr lang="en-US" sz="900" b="1" dirty="0" smtClean="0"/>
        </a:p>
      </dgm:t>
    </dgm:pt>
    <dgm:pt modelId="{4BF37915-AC27-4D0C-82E7-CCFEA7260246}" type="parTrans" cxnId="{D325D565-7FF0-4536-B915-DA67F8751C51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26A6003B-52FB-45F8-947A-48B629331204}" type="sibTrans" cxnId="{D325D565-7FF0-4536-B915-DA67F8751C51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D92E4740-A058-4C48-9B73-AAEF8B61E372}">
      <dgm:prSet phldrT="[Text]" custT="1"/>
      <dgm:spPr/>
      <dgm:t>
        <a:bodyPr/>
        <a:lstStyle/>
        <a:p>
          <a:r>
            <a:rPr lang="en-US" sz="1400" b="1" dirty="0" smtClean="0"/>
            <a:t>COM &amp; BIN</a:t>
          </a:r>
          <a:endParaRPr lang="en-US" sz="1400" b="1" dirty="0"/>
        </a:p>
      </dgm:t>
    </dgm:pt>
    <dgm:pt modelId="{C0AA816A-DB9E-4F17-8739-F38E19B743EA}" type="parTrans" cxnId="{76BE3FA9-1FCB-4B15-87F4-C0E110069AD8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7322140D-DC52-4D7A-85D2-009285429092}" type="sibTrans" cxnId="{76BE3FA9-1FCB-4B15-87F4-C0E110069AD8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7A867A47-82A8-400A-A914-7DAD232A8DFE}">
      <dgm:prSet phldrT="[Text]" custT="1"/>
      <dgm:spPr/>
      <dgm:t>
        <a:bodyPr/>
        <a:lstStyle/>
        <a:p>
          <a:r>
            <a:rPr lang="en-US" sz="900" b="1" dirty="0" smtClean="0"/>
            <a:t>PERFORMANCE MANAGEMEN</a:t>
          </a:r>
          <a:r>
            <a:rPr lang="en-US" sz="700" dirty="0" smtClean="0"/>
            <a:t>T</a:t>
          </a:r>
          <a:endParaRPr lang="en-US" sz="700" dirty="0"/>
        </a:p>
      </dgm:t>
    </dgm:pt>
    <dgm:pt modelId="{DB679645-3D8C-4297-A669-29B97D9EEE3A}" type="parTrans" cxnId="{FB805027-874F-474D-9A7F-4056A133E757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36420D53-B60D-4005-AF36-6F9299EA5F39}" type="sibTrans" cxnId="{FB805027-874F-474D-9A7F-4056A133E757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F8A0041F-C60E-4B44-9E34-94B4497B8302}">
      <dgm:prSet phldrT="[Text]" custT="1"/>
      <dgm:spPr/>
      <dgm:t>
        <a:bodyPr/>
        <a:lstStyle/>
        <a:p>
          <a:r>
            <a:rPr lang="en-US" sz="900" b="1" dirty="0" smtClean="0"/>
            <a:t>TRAINING</a:t>
          </a:r>
          <a:br>
            <a:rPr lang="en-US" sz="900" b="1" dirty="0" smtClean="0"/>
          </a:br>
          <a:r>
            <a:rPr lang="en-US" sz="900" b="1" dirty="0" smtClean="0"/>
            <a:t>&amp;</a:t>
          </a:r>
          <a:br>
            <a:rPr lang="en-US" sz="900" b="1" dirty="0" smtClean="0"/>
          </a:br>
          <a:r>
            <a:rPr lang="en-US" sz="900" b="1" dirty="0" smtClean="0"/>
            <a:t>DEVELOPMENT</a:t>
          </a:r>
          <a:endParaRPr lang="en-US" sz="900" b="1" dirty="0"/>
        </a:p>
      </dgm:t>
    </dgm:pt>
    <dgm:pt modelId="{1008A940-3EC5-4045-9EE9-5CA84968552D}" type="parTrans" cxnId="{F945FA60-BEF8-4DB2-B568-B21EB557C426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FA17AF29-0567-452D-833A-1FABD06AB03B}" type="sibTrans" cxnId="{F945FA60-BEF8-4DB2-B568-B21EB557C426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275D2515-C8A0-4DDF-A5D2-EB744BE0D160}">
      <dgm:prSet phldrT="[Text]"/>
      <dgm:spPr/>
      <dgm:t>
        <a:bodyPr/>
        <a:lstStyle/>
        <a:p>
          <a:r>
            <a:rPr lang="en-US" b="1" dirty="0" smtClean="0"/>
            <a:t>HEALTH &amp;</a:t>
          </a:r>
          <a:br>
            <a:rPr lang="en-US" b="1" dirty="0" smtClean="0"/>
          </a:br>
          <a:r>
            <a:rPr lang="en-US" b="1" dirty="0" smtClean="0"/>
            <a:t>SAFETY</a:t>
          </a:r>
          <a:endParaRPr lang="en-US" b="1" dirty="0"/>
        </a:p>
      </dgm:t>
    </dgm:pt>
    <dgm:pt modelId="{EB1E7F80-AFFA-4B92-BC28-B2605065CA16}" type="parTrans" cxnId="{06A50524-2DE3-4C91-9480-A830A2C8C51D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7A8349FD-4A37-4C50-B395-C90DA4B46DDB}" type="sibTrans" cxnId="{06A50524-2DE3-4C91-9480-A830A2C8C51D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ABCC8E44-82C8-405F-9302-E3CAF0E71222}">
      <dgm:prSet phldrT="[Text]"/>
      <dgm:spPr/>
      <dgm:t>
        <a:bodyPr/>
        <a:lstStyle/>
        <a:p>
          <a:r>
            <a:rPr lang="en-US" dirty="0" smtClean="0"/>
            <a:t>ORGANIZATIONAL DEVELOPMENT</a:t>
          </a:r>
          <a:endParaRPr lang="en-US" dirty="0"/>
        </a:p>
      </dgm:t>
    </dgm:pt>
    <dgm:pt modelId="{CFE95507-E787-42CB-BFA4-16AF5A68A29D}" type="parTrans" cxnId="{59680881-03A9-45D4-BBC2-F4438B5EBC18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ADC7FB4D-9B1C-4BF3-B389-70CBAEF1D09C}" type="sibTrans" cxnId="{59680881-03A9-45D4-BBC2-F4438B5EBC18}">
      <dgm:prSet/>
      <dgm:spPr/>
      <dgm:t>
        <a:bodyPr/>
        <a:lstStyle/>
        <a:p>
          <a:endParaRPr lang="en-US" b="1" cap="none" spc="0">
            <a:ln w="22225">
              <a:solidFill>
                <a:schemeClr val="accent2"/>
              </a:solidFill>
              <a:prstDash val="solid"/>
            </a:ln>
            <a:solidFill>
              <a:schemeClr val="accent2">
                <a:lumMod val="40000"/>
                <a:lumOff val="60000"/>
              </a:schemeClr>
            </a:solidFill>
            <a:effectLst/>
          </a:endParaRPr>
        </a:p>
      </dgm:t>
    </dgm:pt>
    <dgm:pt modelId="{E689D445-6BE9-48E0-B9A6-92013BF69153}" type="pres">
      <dgm:prSet presAssocID="{C65CCECE-7ADF-478A-B574-518A38234037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F4E4D5F-3DC9-43A6-8176-DF8B5679F180}" type="pres">
      <dgm:prSet presAssocID="{32F6BAC1-B112-4B47-98C8-21CD13A02F41}" presName="centerShape" presStyleLbl="node0" presStyleIdx="0" presStyleCnt="1" custScaleX="117807" custScaleY="117807"/>
      <dgm:spPr/>
      <dgm:t>
        <a:bodyPr/>
        <a:lstStyle/>
        <a:p>
          <a:endParaRPr lang="en-US"/>
        </a:p>
      </dgm:t>
    </dgm:pt>
    <dgm:pt modelId="{5ACEEE10-198C-47E0-AABF-8A131E55CDBD}" type="pres">
      <dgm:prSet presAssocID="{FE84F53B-040A-4374-8BBF-34E3A5E76D43}" presName="node" presStyleLbl="node1" presStyleIdx="0" presStyleCnt="8" custAng="0" custScaleX="100978" custScaleY="1009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79DC15-43B9-476F-AE85-47B81775FCA4}" type="pres">
      <dgm:prSet presAssocID="{FE84F53B-040A-4374-8BBF-34E3A5E76D43}" presName="dummy" presStyleCnt="0"/>
      <dgm:spPr/>
    </dgm:pt>
    <dgm:pt modelId="{2BC978EE-333F-4FD9-971A-0238549D738B}" type="pres">
      <dgm:prSet presAssocID="{55A79829-D683-4E3A-B6C8-AEACF1064B84}" presName="sibTrans" presStyleLbl="sibTrans2D1" presStyleIdx="0" presStyleCnt="8"/>
      <dgm:spPr/>
      <dgm:t>
        <a:bodyPr/>
        <a:lstStyle/>
        <a:p>
          <a:endParaRPr lang="en-US"/>
        </a:p>
      </dgm:t>
    </dgm:pt>
    <dgm:pt modelId="{7C635755-B3CD-4516-8815-CCE42F137717}" type="pres">
      <dgm:prSet presAssocID="{967BA22C-D30B-4DA5-862A-A5E97B86085E}" presName="node" presStyleLbl="node1" presStyleIdx="1" presStyleCnt="8" custScaleX="100978" custScaleY="1009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7D1D65-65BD-4B51-9DBC-EC5509AF0F29}" type="pres">
      <dgm:prSet presAssocID="{967BA22C-D30B-4DA5-862A-A5E97B86085E}" presName="dummy" presStyleCnt="0"/>
      <dgm:spPr/>
    </dgm:pt>
    <dgm:pt modelId="{8F3A09D8-13C0-4C5A-95F8-87373F7B9EEB}" type="pres">
      <dgm:prSet presAssocID="{2081EE32-9485-4960-8E08-F7C7CF745426}" presName="sibTrans" presStyleLbl="sibTrans2D1" presStyleIdx="1" presStyleCnt="8"/>
      <dgm:spPr/>
      <dgm:t>
        <a:bodyPr/>
        <a:lstStyle/>
        <a:p>
          <a:endParaRPr lang="en-US"/>
        </a:p>
      </dgm:t>
    </dgm:pt>
    <dgm:pt modelId="{CA55146D-C55A-44EE-BE16-A8A3335266FF}" type="pres">
      <dgm:prSet presAssocID="{0E46BCAA-3327-41AF-9402-8E60D0E3CE0E}" presName="node" presStyleLbl="node1" presStyleIdx="2" presStyleCnt="8" custScaleX="100978" custScaleY="1009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C576AD-37EC-43A1-8EDB-2CD3CB57BF5D}" type="pres">
      <dgm:prSet presAssocID="{0E46BCAA-3327-41AF-9402-8E60D0E3CE0E}" presName="dummy" presStyleCnt="0"/>
      <dgm:spPr/>
    </dgm:pt>
    <dgm:pt modelId="{8AA514F3-F5BC-4D6E-B858-BE9265947A5D}" type="pres">
      <dgm:prSet presAssocID="{26A6003B-52FB-45F8-947A-48B629331204}" presName="sibTrans" presStyleLbl="sibTrans2D1" presStyleIdx="2" presStyleCnt="8"/>
      <dgm:spPr/>
      <dgm:t>
        <a:bodyPr/>
        <a:lstStyle/>
        <a:p>
          <a:endParaRPr lang="en-US"/>
        </a:p>
      </dgm:t>
    </dgm:pt>
    <dgm:pt modelId="{7E452B7F-20FA-4D65-9EED-B90144410314}" type="pres">
      <dgm:prSet presAssocID="{D92E4740-A058-4C48-9B73-AAEF8B61E372}" presName="node" presStyleLbl="node1" presStyleIdx="3" presStyleCnt="8" custScaleX="100978" custScaleY="100978" custRadScaleRad="108262" custRadScaleInc="-1423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AC4742-0ED5-4E1B-9373-50A88EE5355B}" type="pres">
      <dgm:prSet presAssocID="{D92E4740-A058-4C48-9B73-AAEF8B61E372}" presName="dummy" presStyleCnt="0"/>
      <dgm:spPr/>
    </dgm:pt>
    <dgm:pt modelId="{E164F8C1-3C4D-4719-B197-B89EF4D62AF3}" type="pres">
      <dgm:prSet presAssocID="{7322140D-DC52-4D7A-85D2-009285429092}" presName="sibTrans" presStyleLbl="sibTrans2D1" presStyleIdx="3" presStyleCnt="8"/>
      <dgm:spPr/>
      <dgm:t>
        <a:bodyPr/>
        <a:lstStyle/>
        <a:p>
          <a:endParaRPr lang="en-US"/>
        </a:p>
      </dgm:t>
    </dgm:pt>
    <dgm:pt modelId="{FDC07DF4-87EC-4E4D-A5A8-5366CDEFD6CE}" type="pres">
      <dgm:prSet presAssocID="{7A867A47-82A8-400A-A914-7DAD232A8DFE}" presName="node" presStyleLbl="node1" presStyleIdx="4" presStyleCnt="8" custScaleX="100978" custScaleY="1009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C9E793-2D71-4EEC-A718-231767A8E0A8}" type="pres">
      <dgm:prSet presAssocID="{7A867A47-82A8-400A-A914-7DAD232A8DFE}" presName="dummy" presStyleCnt="0"/>
      <dgm:spPr/>
    </dgm:pt>
    <dgm:pt modelId="{0E49AE87-23A6-478C-B258-C8AEB2E5E2B7}" type="pres">
      <dgm:prSet presAssocID="{36420D53-B60D-4005-AF36-6F9299EA5F39}" presName="sibTrans" presStyleLbl="sibTrans2D1" presStyleIdx="4" presStyleCnt="8"/>
      <dgm:spPr/>
      <dgm:t>
        <a:bodyPr/>
        <a:lstStyle/>
        <a:p>
          <a:endParaRPr lang="en-US"/>
        </a:p>
      </dgm:t>
    </dgm:pt>
    <dgm:pt modelId="{C2DE6E02-BB4B-48AC-9D07-95D02C6C0BB9}" type="pres">
      <dgm:prSet presAssocID="{F8A0041F-C60E-4B44-9E34-94B4497B8302}" presName="node" presStyleLbl="node1" presStyleIdx="5" presStyleCnt="8" custScaleX="100978" custScaleY="1009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26C7DB-B879-430C-9259-45B3525986E2}" type="pres">
      <dgm:prSet presAssocID="{F8A0041F-C60E-4B44-9E34-94B4497B8302}" presName="dummy" presStyleCnt="0"/>
      <dgm:spPr/>
    </dgm:pt>
    <dgm:pt modelId="{3F1638D0-9BAE-42CC-A288-C0D7CD6925B3}" type="pres">
      <dgm:prSet presAssocID="{FA17AF29-0567-452D-833A-1FABD06AB03B}" presName="sibTrans" presStyleLbl="sibTrans2D1" presStyleIdx="5" presStyleCnt="8"/>
      <dgm:spPr/>
      <dgm:t>
        <a:bodyPr/>
        <a:lstStyle/>
        <a:p>
          <a:endParaRPr lang="en-US"/>
        </a:p>
      </dgm:t>
    </dgm:pt>
    <dgm:pt modelId="{E49E5F1D-F91E-49CF-983F-69B4905E66BB}" type="pres">
      <dgm:prSet presAssocID="{275D2515-C8A0-4DDF-A5D2-EB744BE0D160}" presName="node" presStyleLbl="node1" presStyleIdx="6" presStyleCnt="8" custScaleX="100978" custScaleY="1009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5C7A12-73AA-41A9-8CD4-C5D4D08BCFE4}" type="pres">
      <dgm:prSet presAssocID="{275D2515-C8A0-4DDF-A5D2-EB744BE0D160}" presName="dummy" presStyleCnt="0"/>
      <dgm:spPr/>
    </dgm:pt>
    <dgm:pt modelId="{C3BACF69-09CE-40AF-8041-AEF4DBC1154E}" type="pres">
      <dgm:prSet presAssocID="{7A8349FD-4A37-4C50-B395-C90DA4B46DDB}" presName="sibTrans" presStyleLbl="sibTrans2D1" presStyleIdx="6" presStyleCnt="8"/>
      <dgm:spPr/>
      <dgm:t>
        <a:bodyPr/>
        <a:lstStyle/>
        <a:p>
          <a:endParaRPr lang="en-US"/>
        </a:p>
      </dgm:t>
    </dgm:pt>
    <dgm:pt modelId="{9BC4B894-E880-4AE0-AB52-7E0247C630CC}" type="pres">
      <dgm:prSet presAssocID="{ABCC8E44-82C8-405F-9302-E3CAF0E71222}" presName="node" presStyleLbl="node1" presStyleIdx="7" presStyleCnt="8" custScaleX="100978" custScaleY="1009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CDF779-8525-4CB2-A65D-8B6BD92CDA4F}" type="pres">
      <dgm:prSet presAssocID="{ABCC8E44-82C8-405F-9302-E3CAF0E71222}" presName="dummy" presStyleCnt="0"/>
      <dgm:spPr/>
    </dgm:pt>
    <dgm:pt modelId="{B531AF43-73CF-4320-90E4-CA4AFD715C07}" type="pres">
      <dgm:prSet presAssocID="{ADC7FB4D-9B1C-4BF3-B389-70CBAEF1D09C}" presName="sibTrans" presStyleLbl="sibTrans2D1" presStyleIdx="7" presStyleCnt="8"/>
      <dgm:spPr/>
      <dgm:t>
        <a:bodyPr/>
        <a:lstStyle/>
        <a:p>
          <a:endParaRPr lang="en-US"/>
        </a:p>
      </dgm:t>
    </dgm:pt>
  </dgm:ptLst>
  <dgm:cxnLst>
    <dgm:cxn modelId="{D443233A-C85D-4FB5-88E7-81A1C7DB6587}" type="presOf" srcId="{FA17AF29-0567-452D-833A-1FABD06AB03B}" destId="{3F1638D0-9BAE-42CC-A288-C0D7CD6925B3}" srcOrd="0" destOrd="0" presId="urn:microsoft.com/office/officeart/2005/8/layout/radial6"/>
    <dgm:cxn modelId="{755D0AB2-3796-4F6A-AEFE-12689229E918}" type="presOf" srcId="{26A6003B-52FB-45F8-947A-48B629331204}" destId="{8AA514F3-F5BC-4D6E-B858-BE9265947A5D}" srcOrd="0" destOrd="0" presId="urn:microsoft.com/office/officeart/2005/8/layout/radial6"/>
    <dgm:cxn modelId="{F945FA60-BEF8-4DB2-B568-B21EB557C426}" srcId="{32F6BAC1-B112-4B47-98C8-21CD13A02F41}" destId="{F8A0041F-C60E-4B44-9E34-94B4497B8302}" srcOrd="5" destOrd="0" parTransId="{1008A940-3EC5-4045-9EE9-5CA84968552D}" sibTransId="{FA17AF29-0567-452D-833A-1FABD06AB03B}"/>
    <dgm:cxn modelId="{60E06857-3F4B-4784-933F-B0E0C6DB8658}" type="presOf" srcId="{ADC7FB4D-9B1C-4BF3-B389-70CBAEF1D09C}" destId="{B531AF43-73CF-4320-90E4-CA4AFD715C07}" srcOrd="0" destOrd="0" presId="urn:microsoft.com/office/officeart/2005/8/layout/radial6"/>
    <dgm:cxn modelId="{7FF0E997-3994-40E0-AF0F-B428F2D0132F}" type="presOf" srcId="{36420D53-B60D-4005-AF36-6F9299EA5F39}" destId="{0E49AE87-23A6-478C-B258-C8AEB2E5E2B7}" srcOrd="0" destOrd="0" presId="urn:microsoft.com/office/officeart/2005/8/layout/radial6"/>
    <dgm:cxn modelId="{931C1DAC-CB75-4ECE-8227-25420D48C13D}" type="presOf" srcId="{FE84F53B-040A-4374-8BBF-34E3A5E76D43}" destId="{5ACEEE10-198C-47E0-AABF-8A131E55CDBD}" srcOrd="0" destOrd="0" presId="urn:microsoft.com/office/officeart/2005/8/layout/radial6"/>
    <dgm:cxn modelId="{8A45EE24-FC61-4F44-9F2E-29D1EA575665}" type="presOf" srcId="{F8A0041F-C60E-4B44-9E34-94B4497B8302}" destId="{C2DE6E02-BB4B-48AC-9D07-95D02C6C0BB9}" srcOrd="0" destOrd="0" presId="urn:microsoft.com/office/officeart/2005/8/layout/radial6"/>
    <dgm:cxn modelId="{D34494AF-B7A2-4802-A821-E6B6C5D8CF3C}" type="presOf" srcId="{7A8349FD-4A37-4C50-B395-C90DA4B46DDB}" destId="{C3BACF69-09CE-40AF-8041-AEF4DBC1154E}" srcOrd="0" destOrd="0" presId="urn:microsoft.com/office/officeart/2005/8/layout/radial6"/>
    <dgm:cxn modelId="{D325D565-7FF0-4536-B915-DA67F8751C51}" srcId="{32F6BAC1-B112-4B47-98C8-21CD13A02F41}" destId="{0E46BCAA-3327-41AF-9402-8E60D0E3CE0E}" srcOrd="2" destOrd="0" parTransId="{4BF37915-AC27-4D0C-82E7-CCFEA7260246}" sibTransId="{26A6003B-52FB-45F8-947A-48B629331204}"/>
    <dgm:cxn modelId="{10EA978C-C504-4F91-BF61-043AFBAE4B05}" type="presOf" srcId="{275D2515-C8A0-4DDF-A5D2-EB744BE0D160}" destId="{E49E5F1D-F91E-49CF-983F-69B4905E66BB}" srcOrd="0" destOrd="0" presId="urn:microsoft.com/office/officeart/2005/8/layout/radial6"/>
    <dgm:cxn modelId="{B67CB585-492B-4E71-8CA0-CED137279646}" type="presOf" srcId="{D92E4740-A058-4C48-9B73-AAEF8B61E372}" destId="{7E452B7F-20FA-4D65-9EED-B90144410314}" srcOrd="0" destOrd="0" presId="urn:microsoft.com/office/officeart/2005/8/layout/radial6"/>
    <dgm:cxn modelId="{06A50524-2DE3-4C91-9480-A830A2C8C51D}" srcId="{32F6BAC1-B112-4B47-98C8-21CD13A02F41}" destId="{275D2515-C8A0-4DDF-A5D2-EB744BE0D160}" srcOrd="6" destOrd="0" parTransId="{EB1E7F80-AFFA-4B92-BC28-B2605065CA16}" sibTransId="{7A8349FD-4A37-4C50-B395-C90DA4B46DDB}"/>
    <dgm:cxn modelId="{3DBBCC0B-EED8-4DC4-8B94-D3BD7D8672DD}" type="presOf" srcId="{0E46BCAA-3327-41AF-9402-8E60D0E3CE0E}" destId="{CA55146D-C55A-44EE-BE16-A8A3335266FF}" srcOrd="0" destOrd="0" presId="urn:microsoft.com/office/officeart/2005/8/layout/radial6"/>
    <dgm:cxn modelId="{FB805027-874F-474D-9A7F-4056A133E757}" srcId="{32F6BAC1-B112-4B47-98C8-21CD13A02F41}" destId="{7A867A47-82A8-400A-A914-7DAD232A8DFE}" srcOrd="4" destOrd="0" parTransId="{DB679645-3D8C-4297-A669-29B97D9EEE3A}" sibTransId="{36420D53-B60D-4005-AF36-6F9299EA5F39}"/>
    <dgm:cxn modelId="{7F733771-88A6-4872-A6EF-EE13A86C2159}" type="presOf" srcId="{ABCC8E44-82C8-405F-9302-E3CAF0E71222}" destId="{9BC4B894-E880-4AE0-AB52-7E0247C630CC}" srcOrd="0" destOrd="0" presId="urn:microsoft.com/office/officeart/2005/8/layout/radial6"/>
    <dgm:cxn modelId="{5951020D-ABAD-4A86-8A47-1A35F4D57368}" type="presOf" srcId="{C65CCECE-7ADF-478A-B574-518A38234037}" destId="{E689D445-6BE9-48E0-B9A6-92013BF69153}" srcOrd="0" destOrd="0" presId="urn:microsoft.com/office/officeart/2005/8/layout/radial6"/>
    <dgm:cxn modelId="{CEE17806-40F5-4174-840D-ED37D1DFC0CD}" srcId="{C65CCECE-7ADF-478A-B574-518A38234037}" destId="{32F6BAC1-B112-4B47-98C8-21CD13A02F41}" srcOrd="0" destOrd="0" parTransId="{7F6B2BDA-55DB-42CC-806D-FC6095F94428}" sibTransId="{2B0440EA-9D75-4743-B33C-4E20F41D1267}"/>
    <dgm:cxn modelId="{45B08FE2-ECEA-40E2-B448-127BA5CED1CE}" type="presOf" srcId="{2081EE32-9485-4960-8E08-F7C7CF745426}" destId="{8F3A09D8-13C0-4C5A-95F8-87373F7B9EEB}" srcOrd="0" destOrd="0" presId="urn:microsoft.com/office/officeart/2005/8/layout/radial6"/>
    <dgm:cxn modelId="{107FBC5D-6A01-4E2D-9E5B-63F1A0AE1764}" type="presOf" srcId="{55A79829-D683-4E3A-B6C8-AEACF1064B84}" destId="{2BC978EE-333F-4FD9-971A-0238549D738B}" srcOrd="0" destOrd="0" presId="urn:microsoft.com/office/officeart/2005/8/layout/radial6"/>
    <dgm:cxn modelId="{59680881-03A9-45D4-BBC2-F4438B5EBC18}" srcId="{32F6BAC1-B112-4B47-98C8-21CD13A02F41}" destId="{ABCC8E44-82C8-405F-9302-E3CAF0E71222}" srcOrd="7" destOrd="0" parTransId="{CFE95507-E787-42CB-BFA4-16AF5A68A29D}" sibTransId="{ADC7FB4D-9B1C-4BF3-B389-70CBAEF1D09C}"/>
    <dgm:cxn modelId="{BD3BC0BA-053F-45EA-A241-092ED79999CB}" type="presOf" srcId="{967BA22C-D30B-4DA5-862A-A5E97B86085E}" destId="{7C635755-B3CD-4516-8815-CCE42F137717}" srcOrd="0" destOrd="0" presId="urn:microsoft.com/office/officeart/2005/8/layout/radial6"/>
    <dgm:cxn modelId="{27910653-5EAE-4344-B0C5-43D3707FCE64}" type="presOf" srcId="{7322140D-DC52-4D7A-85D2-009285429092}" destId="{E164F8C1-3C4D-4719-B197-B89EF4D62AF3}" srcOrd="0" destOrd="0" presId="urn:microsoft.com/office/officeart/2005/8/layout/radial6"/>
    <dgm:cxn modelId="{55AF080B-8DCA-43FB-B9ED-A3501FA289B2}" srcId="{32F6BAC1-B112-4B47-98C8-21CD13A02F41}" destId="{FE84F53B-040A-4374-8BBF-34E3A5E76D43}" srcOrd="0" destOrd="0" parTransId="{5F88CF8B-F6AC-40D0-95D7-3E3D92BA9055}" sibTransId="{55A79829-D683-4E3A-B6C8-AEACF1064B84}"/>
    <dgm:cxn modelId="{324E2E86-D29C-4E82-91AA-14E96A31164A}" type="presOf" srcId="{7A867A47-82A8-400A-A914-7DAD232A8DFE}" destId="{FDC07DF4-87EC-4E4D-A5A8-5366CDEFD6CE}" srcOrd="0" destOrd="0" presId="urn:microsoft.com/office/officeart/2005/8/layout/radial6"/>
    <dgm:cxn modelId="{B9CD01B3-7A07-4938-98FB-84FDD30CFEDB}" type="presOf" srcId="{32F6BAC1-B112-4B47-98C8-21CD13A02F41}" destId="{DF4E4D5F-3DC9-43A6-8176-DF8B5679F180}" srcOrd="0" destOrd="0" presId="urn:microsoft.com/office/officeart/2005/8/layout/radial6"/>
    <dgm:cxn modelId="{B8054764-24AE-49AF-86C6-AA8CE6863018}" srcId="{32F6BAC1-B112-4B47-98C8-21CD13A02F41}" destId="{967BA22C-D30B-4DA5-862A-A5E97B86085E}" srcOrd="1" destOrd="0" parTransId="{278739C2-D9F7-461D-AC88-3C546A68AD46}" sibTransId="{2081EE32-9485-4960-8E08-F7C7CF745426}"/>
    <dgm:cxn modelId="{76BE3FA9-1FCB-4B15-87F4-C0E110069AD8}" srcId="{32F6BAC1-B112-4B47-98C8-21CD13A02F41}" destId="{D92E4740-A058-4C48-9B73-AAEF8B61E372}" srcOrd="3" destOrd="0" parTransId="{C0AA816A-DB9E-4F17-8739-F38E19B743EA}" sibTransId="{7322140D-DC52-4D7A-85D2-009285429092}"/>
    <dgm:cxn modelId="{6310520C-BEA3-45AB-9FC5-81A87F2242DE}" type="presParOf" srcId="{E689D445-6BE9-48E0-B9A6-92013BF69153}" destId="{DF4E4D5F-3DC9-43A6-8176-DF8B5679F180}" srcOrd="0" destOrd="0" presId="urn:microsoft.com/office/officeart/2005/8/layout/radial6"/>
    <dgm:cxn modelId="{A5BAD3F0-A2ED-4A6A-B038-2F70DB48486F}" type="presParOf" srcId="{E689D445-6BE9-48E0-B9A6-92013BF69153}" destId="{5ACEEE10-198C-47E0-AABF-8A131E55CDBD}" srcOrd="1" destOrd="0" presId="urn:microsoft.com/office/officeart/2005/8/layout/radial6"/>
    <dgm:cxn modelId="{6DA4494C-DC92-4DBE-BA07-B8C2D8FDE3A0}" type="presParOf" srcId="{E689D445-6BE9-48E0-B9A6-92013BF69153}" destId="{5779DC15-43B9-476F-AE85-47B81775FCA4}" srcOrd="2" destOrd="0" presId="urn:microsoft.com/office/officeart/2005/8/layout/radial6"/>
    <dgm:cxn modelId="{583520B9-10CF-469B-AC9C-3950707EBAD4}" type="presParOf" srcId="{E689D445-6BE9-48E0-B9A6-92013BF69153}" destId="{2BC978EE-333F-4FD9-971A-0238549D738B}" srcOrd="3" destOrd="0" presId="urn:microsoft.com/office/officeart/2005/8/layout/radial6"/>
    <dgm:cxn modelId="{BE4C53EE-BD7A-4F66-93BE-3A4698033771}" type="presParOf" srcId="{E689D445-6BE9-48E0-B9A6-92013BF69153}" destId="{7C635755-B3CD-4516-8815-CCE42F137717}" srcOrd="4" destOrd="0" presId="urn:microsoft.com/office/officeart/2005/8/layout/radial6"/>
    <dgm:cxn modelId="{4961CA22-A7F0-4E11-A1A2-72D2ABF2F999}" type="presParOf" srcId="{E689D445-6BE9-48E0-B9A6-92013BF69153}" destId="{8B7D1D65-65BD-4B51-9DBC-EC5509AF0F29}" srcOrd="5" destOrd="0" presId="urn:microsoft.com/office/officeart/2005/8/layout/radial6"/>
    <dgm:cxn modelId="{BC88759F-5DA3-4E21-9632-CC42CFE59F0A}" type="presParOf" srcId="{E689D445-6BE9-48E0-B9A6-92013BF69153}" destId="{8F3A09D8-13C0-4C5A-95F8-87373F7B9EEB}" srcOrd="6" destOrd="0" presId="urn:microsoft.com/office/officeart/2005/8/layout/radial6"/>
    <dgm:cxn modelId="{D0AFAE98-F4F6-437A-8E0F-09A37F0010A0}" type="presParOf" srcId="{E689D445-6BE9-48E0-B9A6-92013BF69153}" destId="{CA55146D-C55A-44EE-BE16-A8A3335266FF}" srcOrd="7" destOrd="0" presId="urn:microsoft.com/office/officeart/2005/8/layout/radial6"/>
    <dgm:cxn modelId="{8CD8618B-41BB-4C26-B607-0B6C6665F8FC}" type="presParOf" srcId="{E689D445-6BE9-48E0-B9A6-92013BF69153}" destId="{E6C576AD-37EC-43A1-8EDB-2CD3CB57BF5D}" srcOrd="8" destOrd="0" presId="urn:microsoft.com/office/officeart/2005/8/layout/radial6"/>
    <dgm:cxn modelId="{BDA32EFD-6AF6-4A89-B50C-D5538B426784}" type="presParOf" srcId="{E689D445-6BE9-48E0-B9A6-92013BF69153}" destId="{8AA514F3-F5BC-4D6E-B858-BE9265947A5D}" srcOrd="9" destOrd="0" presId="urn:microsoft.com/office/officeart/2005/8/layout/radial6"/>
    <dgm:cxn modelId="{C28E1007-DB63-4FE9-AF41-85C504DA29F9}" type="presParOf" srcId="{E689D445-6BE9-48E0-B9A6-92013BF69153}" destId="{7E452B7F-20FA-4D65-9EED-B90144410314}" srcOrd="10" destOrd="0" presId="urn:microsoft.com/office/officeart/2005/8/layout/radial6"/>
    <dgm:cxn modelId="{5E092FB2-F09D-482F-A736-755A04B64093}" type="presParOf" srcId="{E689D445-6BE9-48E0-B9A6-92013BF69153}" destId="{24AC4742-0ED5-4E1B-9373-50A88EE5355B}" srcOrd="11" destOrd="0" presId="urn:microsoft.com/office/officeart/2005/8/layout/radial6"/>
    <dgm:cxn modelId="{3DA95879-8288-4C4A-9293-F872DD3BBEF4}" type="presParOf" srcId="{E689D445-6BE9-48E0-B9A6-92013BF69153}" destId="{E164F8C1-3C4D-4719-B197-B89EF4D62AF3}" srcOrd="12" destOrd="0" presId="urn:microsoft.com/office/officeart/2005/8/layout/radial6"/>
    <dgm:cxn modelId="{761EA107-4491-4232-8A6C-F61371571E32}" type="presParOf" srcId="{E689D445-6BE9-48E0-B9A6-92013BF69153}" destId="{FDC07DF4-87EC-4E4D-A5A8-5366CDEFD6CE}" srcOrd="13" destOrd="0" presId="urn:microsoft.com/office/officeart/2005/8/layout/radial6"/>
    <dgm:cxn modelId="{75B30489-623F-4B20-AA27-4E5858589D69}" type="presParOf" srcId="{E689D445-6BE9-48E0-B9A6-92013BF69153}" destId="{1BC9E793-2D71-4EEC-A718-231767A8E0A8}" srcOrd="14" destOrd="0" presId="urn:microsoft.com/office/officeart/2005/8/layout/radial6"/>
    <dgm:cxn modelId="{BF1062F4-E8A4-47B4-9FA2-F8260F68FB84}" type="presParOf" srcId="{E689D445-6BE9-48E0-B9A6-92013BF69153}" destId="{0E49AE87-23A6-478C-B258-C8AEB2E5E2B7}" srcOrd="15" destOrd="0" presId="urn:microsoft.com/office/officeart/2005/8/layout/radial6"/>
    <dgm:cxn modelId="{49DE1891-907E-45E3-82E4-F7ACB4B39AF4}" type="presParOf" srcId="{E689D445-6BE9-48E0-B9A6-92013BF69153}" destId="{C2DE6E02-BB4B-48AC-9D07-95D02C6C0BB9}" srcOrd="16" destOrd="0" presId="urn:microsoft.com/office/officeart/2005/8/layout/radial6"/>
    <dgm:cxn modelId="{86A9C65B-D5C5-4FCC-A71B-9B6D02DB0663}" type="presParOf" srcId="{E689D445-6BE9-48E0-B9A6-92013BF69153}" destId="{4626C7DB-B879-430C-9259-45B3525986E2}" srcOrd="17" destOrd="0" presId="urn:microsoft.com/office/officeart/2005/8/layout/radial6"/>
    <dgm:cxn modelId="{533EF6B7-8F86-449B-88B1-3DC4BC12BFEC}" type="presParOf" srcId="{E689D445-6BE9-48E0-B9A6-92013BF69153}" destId="{3F1638D0-9BAE-42CC-A288-C0D7CD6925B3}" srcOrd="18" destOrd="0" presId="urn:microsoft.com/office/officeart/2005/8/layout/radial6"/>
    <dgm:cxn modelId="{AF7B5FE1-5F8E-4522-BFC0-6B35C45538B9}" type="presParOf" srcId="{E689D445-6BE9-48E0-B9A6-92013BF69153}" destId="{E49E5F1D-F91E-49CF-983F-69B4905E66BB}" srcOrd="19" destOrd="0" presId="urn:microsoft.com/office/officeart/2005/8/layout/radial6"/>
    <dgm:cxn modelId="{41842D00-FB5B-474D-80FA-08FBD4D4A345}" type="presParOf" srcId="{E689D445-6BE9-48E0-B9A6-92013BF69153}" destId="{0F5C7A12-73AA-41A9-8CD4-C5D4D08BCFE4}" srcOrd="20" destOrd="0" presId="urn:microsoft.com/office/officeart/2005/8/layout/radial6"/>
    <dgm:cxn modelId="{C8FF8A80-2832-41E2-A4A0-2F30193C88F1}" type="presParOf" srcId="{E689D445-6BE9-48E0-B9A6-92013BF69153}" destId="{C3BACF69-09CE-40AF-8041-AEF4DBC1154E}" srcOrd="21" destOrd="0" presId="urn:microsoft.com/office/officeart/2005/8/layout/radial6"/>
    <dgm:cxn modelId="{36AEE984-5FE1-46F2-9A34-B9D665190928}" type="presParOf" srcId="{E689D445-6BE9-48E0-B9A6-92013BF69153}" destId="{9BC4B894-E880-4AE0-AB52-7E0247C630CC}" srcOrd="22" destOrd="0" presId="urn:microsoft.com/office/officeart/2005/8/layout/radial6"/>
    <dgm:cxn modelId="{16B6CBDC-EBBF-4C78-A012-5A76A9225653}" type="presParOf" srcId="{E689D445-6BE9-48E0-B9A6-92013BF69153}" destId="{E8CDF779-8525-4CB2-A65D-8B6BD92CDA4F}" srcOrd="23" destOrd="0" presId="urn:microsoft.com/office/officeart/2005/8/layout/radial6"/>
    <dgm:cxn modelId="{21CD6197-B2CF-4653-B0DD-B57FF7A626CC}" type="presParOf" srcId="{E689D445-6BE9-48E0-B9A6-92013BF69153}" destId="{B531AF43-73CF-4320-90E4-CA4AFD715C07}" srcOrd="24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31AF43-73CF-4320-90E4-CA4AFD715C07}">
      <dsp:nvSpPr>
        <dsp:cNvPr id="0" name=""/>
        <dsp:cNvSpPr/>
      </dsp:nvSpPr>
      <dsp:spPr>
        <a:xfrm>
          <a:off x="937214" y="539997"/>
          <a:ext cx="4874452" cy="4874452"/>
        </a:xfrm>
        <a:prstGeom prst="blockArc">
          <a:avLst>
            <a:gd name="adj1" fmla="val 13500000"/>
            <a:gd name="adj2" fmla="val 16200000"/>
            <a:gd name="adj3" fmla="val 3428"/>
          </a:avLst>
        </a:prstGeom>
        <a:gradFill rotWithShape="0">
          <a:gsLst>
            <a:gs pos="0">
              <a:schemeClr val="accent4">
                <a:hueOff val="-10990815"/>
                <a:satOff val="69299"/>
                <a:lumOff val="-1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0990815"/>
                <a:satOff val="69299"/>
                <a:lumOff val="-1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0990815"/>
                <a:satOff val="69299"/>
                <a:lumOff val="-1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3BACF69-09CE-40AF-8041-AEF4DBC1154E}">
      <dsp:nvSpPr>
        <dsp:cNvPr id="0" name=""/>
        <dsp:cNvSpPr/>
      </dsp:nvSpPr>
      <dsp:spPr>
        <a:xfrm>
          <a:off x="937214" y="539997"/>
          <a:ext cx="4874452" cy="4874452"/>
        </a:xfrm>
        <a:prstGeom prst="blockArc">
          <a:avLst>
            <a:gd name="adj1" fmla="val 10800000"/>
            <a:gd name="adj2" fmla="val 13500000"/>
            <a:gd name="adj3" fmla="val 3428"/>
          </a:avLst>
        </a:prstGeom>
        <a:gradFill rotWithShape="0">
          <a:gsLst>
            <a:gs pos="0">
              <a:schemeClr val="accent4">
                <a:hueOff val="-9420699"/>
                <a:satOff val="59399"/>
                <a:lumOff val="-161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9420699"/>
                <a:satOff val="59399"/>
                <a:lumOff val="-161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9420699"/>
                <a:satOff val="59399"/>
                <a:lumOff val="-161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F1638D0-9BAE-42CC-A288-C0D7CD6925B3}">
      <dsp:nvSpPr>
        <dsp:cNvPr id="0" name=""/>
        <dsp:cNvSpPr/>
      </dsp:nvSpPr>
      <dsp:spPr>
        <a:xfrm>
          <a:off x="937214" y="539997"/>
          <a:ext cx="4874452" cy="4874452"/>
        </a:xfrm>
        <a:prstGeom prst="blockArc">
          <a:avLst>
            <a:gd name="adj1" fmla="val 8100000"/>
            <a:gd name="adj2" fmla="val 10800000"/>
            <a:gd name="adj3" fmla="val 3428"/>
          </a:avLst>
        </a:prstGeom>
        <a:gradFill rotWithShape="0">
          <a:gsLst>
            <a:gs pos="0">
              <a:schemeClr val="accent4">
                <a:hueOff val="-7850582"/>
                <a:satOff val="49499"/>
                <a:lumOff val="-134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7850582"/>
                <a:satOff val="49499"/>
                <a:lumOff val="-134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7850582"/>
                <a:satOff val="49499"/>
                <a:lumOff val="-134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E49AE87-23A6-478C-B258-C8AEB2E5E2B7}">
      <dsp:nvSpPr>
        <dsp:cNvPr id="0" name=""/>
        <dsp:cNvSpPr/>
      </dsp:nvSpPr>
      <dsp:spPr>
        <a:xfrm>
          <a:off x="937214" y="539997"/>
          <a:ext cx="4874452" cy="4874452"/>
        </a:xfrm>
        <a:prstGeom prst="blockArc">
          <a:avLst>
            <a:gd name="adj1" fmla="val 5400000"/>
            <a:gd name="adj2" fmla="val 8100000"/>
            <a:gd name="adj3" fmla="val 3428"/>
          </a:avLst>
        </a:prstGeom>
        <a:gradFill rotWithShape="0">
          <a:gsLst>
            <a:gs pos="0">
              <a:schemeClr val="accent4">
                <a:hueOff val="-6280466"/>
                <a:satOff val="39599"/>
                <a:lumOff val="-107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6280466"/>
                <a:satOff val="39599"/>
                <a:lumOff val="-107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6280466"/>
                <a:satOff val="39599"/>
                <a:lumOff val="-107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164F8C1-3C4D-4719-B197-B89EF4D62AF3}">
      <dsp:nvSpPr>
        <dsp:cNvPr id="0" name=""/>
        <dsp:cNvSpPr/>
      </dsp:nvSpPr>
      <dsp:spPr>
        <a:xfrm>
          <a:off x="1201797" y="554654"/>
          <a:ext cx="4874452" cy="4874452"/>
        </a:xfrm>
        <a:prstGeom prst="blockArc">
          <a:avLst>
            <a:gd name="adj1" fmla="val 2814993"/>
            <a:gd name="adj2" fmla="val 5780483"/>
            <a:gd name="adj3" fmla="val 3428"/>
          </a:avLst>
        </a:prstGeom>
        <a:gradFill rotWithShape="0">
          <a:gsLst>
            <a:gs pos="0">
              <a:schemeClr val="accent4">
                <a:hueOff val="-4710349"/>
                <a:satOff val="29700"/>
                <a:lumOff val="-80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4710349"/>
                <a:satOff val="29700"/>
                <a:lumOff val="-80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4710349"/>
                <a:satOff val="29700"/>
                <a:lumOff val="-80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AA514F3-F5BC-4D6E-B858-BE9265947A5D}">
      <dsp:nvSpPr>
        <dsp:cNvPr id="0" name=""/>
        <dsp:cNvSpPr/>
      </dsp:nvSpPr>
      <dsp:spPr>
        <a:xfrm>
          <a:off x="954179" y="824583"/>
          <a:ext cx="4874452" cy="4874452"/>
        </a:xfrm>
        <a:prstGeom prst="blockArc">
          <a:avLst>
            <a:gd name="adj1" fmla="val 21190621"/>
            <a:gd name="adj2" fmla="val 2288796"/>
            <a:gd name="adj3" fmla="val 3428"/>
          </a:avLst>
        </a:prstGeom>
        <a:gradFill rotWithShape="0">
          <a:gsLst>
            <a:gs pos="0">
              <a:schemeClr val="accent4">
                <a:hueOff val="-3140233"/>
                <a:satOff val="19800"/>
                <a:lumOff val="-53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3140233"/>
                <a:satOff val="19800"/>
                <a:lumOff val="-53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3140233"/>
                <a:satOff val="19800"/>
                <a:lumOff val="-53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F3A09D8-13C0-4C5A-95F8-87373F7B9EEB}">
      <dsp:nvSpPr>
        <dsp:cNvPr id="0" name=""/>
        <dsp:cNvSpPr/>
      </dsp:nvSpPr>
      <dsp:spPr>
        <a:xfrm>
          <a:off x="937214" y="539997"/>
          <a:ext cx="4874452" cy="4874452"/>
        </a:xfrm>
        <a:prstGeom prst="blockArc">
          <a:avLst>
            <a:gd name="adj1" fmla="val 18900000"/>
            <a:gd name="adj2" fmla="val 0"/>
            <a:gd name="adj3" fmla="val 3428"/>
          </a:avLst>
        </a:prstGeom>
        <a:gradFill rotWithShape="0">
          <a:gsLst>
            <a:gs pos="0">
              <a:schemeClr val="accent4">
                <a:hueOff val="-1570116"/>
                <a:satOff val="9900"/>
                <a:lumOff val="-26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570116"/>
                <a:satOff val="9900"/>
                <a:lumOff val="-26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570116"/>
                <a:satOff val="9900"/>
                <a:lumOff val="-26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C978EE-333F-4FD9-971A-0238549D738B}">
      <dsp:nvSpPr>
        <dsp:cNvPr id="0" name=""/>
        <dsp:cNvSpPr/>
      </dsp:nvSpPr>
      <dsp:spPr>
        <a:xfrm>
          <a:off x="937214" y="539997"/>
          <a:ext cx="4874452" cy="4874452"/>
        </a:xfrm>
        <a:prstGeom prst="blockArc">
          <a:avLst>
            <a:gd name="adj1" fmla="val 16200000"/>
            <a:gd name="adj2" fmla="val 18900000"/>
            <a:gd name="adj3" fmla="val 3428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4E4D5F-3DC9-43A6-8176-DF8B5679F180}">
      <dsp:nvSpPr>
        <dsp:cNvPr id="0" name=""/>
        <dsp:cNvSpPr/>
      </dsp:nvSpPr>
      <dsp:spPr>
        <a:xfrm>
          <a:off x="2398078" y="2000861"/>
          <a:ext cx="1952724" cy="1952724"/>
        </a:xfrm>
        <a:prstGeom prst="ellipse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b="1" kern="1200" cap="none" spc="0" dirty="0" smtClean="0">
              <a:ln w="22225">
                <a:prstDash val="solid"/>
              </a:ln>
              <a:solidFill>
                <a:srgbClr val="0937C9"/>
              </a:solidFill>
              <a:effectLst/>
            </a:rPr>
            <a:t>HR</a:t>
          </a:r>
          <a:endParaRPr lang="en-US" sz="6500" b="1" kern="1200" cap="none" spc="0" dirty="0">
            <a:ln w="22225">
              <a:prstDash val="solid"/>
            </a:ln>
            <a:solidFill>
              <a:srgbClr val="0937C9"/>
            </a:solidFill>
            <a:effectLst/>
          </a:endParaRPr>
        </a:p>
      </dsp:txBody>
      <dsp:txXfrm>
        <a:off x="2684048" y="2286831"/>
        <a:ext cx="1380784" cy="1380784"/>
      </dsp:txXfrm>
    </dsp:sp>
    <dsp:sp modelId="{5ACEEE10-198C-47E0-AABF-8A131E55CDBD}">
      <dsp:nvSpPr>
        <dsp:cNvPr id="0" name=""/>
        <dsp:cNvSpPr/>
      </dsp:nvSpPr>
      <dsp:spPr>
        <a:xfrm>
          <a:off x="2788619" y="-4052"/>
          <a:ext cx="1171641" cy="117164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cap="none" spc="0" dirty="0" smtClean="0">
              <a:ln w="22225">
                <a:prstDash val="solid"/>
              </a:ln>
              <a:effectLst/>
              <a:latin typeface="Bahnschrift" panose="020B0502040204020203" pitchFamily="34" charset="0"/>
            </a:rPr>
            <a:t>PERSONNEL</a:t>
          </a:r>
          <a:endParaRPr lang="en-US" sz="900" b="1" kern="1200" cap="none" spc="0" dirty="0">
            <a:ln w="22225">
              <a:prstDash val="solid"/>
            </a:ln>
            <a:effectLst/>
            <a:latin typeface="Bahnschrift" panose="020B0502040204020203" pitchFamily="34" charset="0"/>
          </a:endParaRPr>
        </a:p>
      </dsp:txBody>
      <dsp:txXfrm>
        <a:off x="2960202" y="167531"/>
        <a:ext cx="828475" cy="828475"/>
      </dsp:txXfrm>
    </dsp:sp>
    <dsp:sp modelId="{7C635755-B3CD-4516-8815-CCE42F137717}">
      <dsp:nvSpPr>
        <dsp:cNvPr id="0" name=""/>
        <dsp:cNvSpPr/>
      </dsp:nvSpPr>
      <dsp:spPr>
        <a:xfrm>
          <a:off x="4482462" y="697560"/>
          <a:ext cx="1171641" cy="1171641"/>
        </a:xfrm>
        <a:prstGeom prst="ellipse">
          <a:avLst/>
        </a:prstGeom>
        <a:gradFill rotWithShape="0">
          <a:gsLst>
            <a:gs pos="0">
              <a:schemeClr val="accent4">
                <a:hueOff val="-1570116"/>
                <a:satOff val="9900"/>
                <a:lumOff val="-26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570116"/>
                <a:satOff val="9900"/>
                <a:lumOff val="-26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570116"/>
                <a:satOff val="9900"/>
                <a:lumOff val="-26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RECRUITMENT &amp; selection</a:t>
          </a:r>
          <a:endParaRPr lang="en-US" sz="900" kern="1200" dirty="0"/>
        </a:p>
      </dsp:txBody>
      <dsp:txXfrm>
        <a:off x="4654045" y="869143"/>
        <a:ext cx="828475" cy="828475"/>
      </dsp:txXfrm>
    </dsp:sp>
    <dsp:sp modelId="{CA55146D-C55A-44EE-BE16-A8A3335266FF}">
      <dsp:nvSpPr>
        <dsp:cNvPr id="0" name=""/>
        <dsp:cNvSpPr/>
      </dsp:nvSpPr>
      <dsp:spPr>
        <a:xfrm>
          <a:off x="5184075" y="2391402"/>
          <a:ext cx="1171641" cy="1171641"/>
        </a:xfrm>
        <a:prstGeom prst="ellipse">
          <a:avLst/>
        </a:prstGeom>
        <a:gradFill rotWithShape="0">
          <a:gsLst>
            <a:gs pos="0">
              <a:schemeClr val="accent4">
                <a:hueOff val="-3140233"/>
                <a:satOff val="19800"/>
                <a:lumOff val="-537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3140233"/>
                <a:satOff val="19800"/>
                <a:lumOff val="-537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3140233"/>
                <a:satOff val="19800"/>
                <a:lumOff val="-537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planning</a:t>
          </a:r>
          <a:endParaRPr lang="en-US" sz="900" b="1" kern="1200" dirty="0" smtClean="0"/>
        </a:p>
      </dsp:txBody>
      <dsp:txXfrm>
        <a:off x="5355658" y="2562985"/>
        <a:ext cx="828475" cy="828475"/>
      </dsp:txXfrm>
    </dsp:sp>
    <dsp:sp modelId="{7E452B7F-20FA-4D65-9EED-B90144410314}">
      <dsp:nvSpPr>
        <dsp:cNvPr id="0" name=""/>
        <dsp:cNvSpPr/>
      </dsp:nvSpPr>
      <dsp:spPr>
        <a:xfrm>
          <a:off x="4689449" y="4155603"/>
          <a:ext cx="1171641" cy="1171641"/>
        </a:xfrm>
        <a:prstGeom prst="ellipse">
          <a:avLst/>
        </a:prstGeom>
        <a:gradFill rotWithShape="0">
          <a:gsLst>
            <a:gs pos="0">
              <a:schemeClr val="accent4">
                <a:hueOff val="-4710349"/>
                <a:satOff val="29700"/>
                <a:lumOff val="-806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4710349"/>
                <a:satOff val="29700"/>
                <a:lumOff val="-806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4710349"/>
                <a:satOff val="29700"/>
                <a:lumOff val="-806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/>
            <a:t>COM &amp; BIN</a:t>
          </a:r>
          <a:endParaRPr lang="en-US" sz="1400" b="1" kern="1200" dirty="0"/>
        </a:p>
      </dsp:txBody>
      <dsp:txXfrm>
        <a:off x="4861032" y="4327186"/>
        <a:ext cx="828475" cy="828475"/>
      </dsp:txXfrm>
    </dsp:sp>
    <dsp:sp modelId="{FDC07DF4-87EC-4E4D-A5A8-5366CDEFD6CE}">
      <dsp:nvSpPr>
        <dsp:cNvPr id="0" name=""/>
        <dsp:cNvSpPr/>
      </dsp:nvSpPr>
      <dsp:spPr>
        <a:xfrm>
          <a:off x="2788619" y="4786858"/>
          <a:ext cx="1171641" cy="1171641"/>
        </a:xfrm>
        <a:prstGeom prst="ellipse">
          <a:avLst/>
        </a:prstGeom>
        <a:gradFill rotWithShape="0">
          <a:gsLst>
            <a:gs pos="0">
              <a:schemeClr val="accent4">
                <a:hueOff val="-6280466"/>
                <a:satOff val="39599"/>
                <a:lumOff val="-107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6280466"/>
                <a:satOff val="39599"/>
                <a:lumOff val="-107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6280466"/>
                <a:satOff val="39599"/>
                <a:lumOff val="-107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 smtClean="0"/>
            <a:t>PERFORMANCE MANAGEMEN</a:t>
          </a:r>
          <a:r>
            <a:rPr lang="en-US" sz="700" kern="1200" dirty="0" smtClean="0"/>
            <a:t>T</a:t>
          </a:r>
          <a:endParaRPr lang="en-US" sz="700" kern="1200" dirty="0"/>
        </a:p>
      </dsp:txBody>
      <dsp:txXfrm>
        <a:off x="2960202" y="4958441"/>
        <a:ext cx="828475" cy="828475"/>
      </dsp:txXfrm>
    </dsp:sp>
    <dsp:sp modelId="{C2DE6E02-BB4B-48AC-9D07-95D02C6C0BB9}">
      <dsp:nvSpPr>
        <dsp:cNvPr id="0" name=""/>
        <dsp:cNvSpPr/>
      </dsp:nvSpPr>
      <dsp:spPr>
        <a:xfrm>
          <a:off x="1094777" y="4085245"/>
          <a:ext cx="1171641" cy="1171641"/>
        </a:xfrm>
        <a:prstGeom prst="ellipse">
          <a:avLst/>
        </a:prstGeom>
        <a:gradFill rotWithShape="0">
          <a:gsLst>
            <a:gs pos="0">
              <a:schemeClr val="accent4">
                <a:hueOff val="-7850582"/>
                <a:satOff val="49499"/>
                <a:lumOff val="-134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7850582"/>
                <a:satOff val="49499"/>
                <a:lumOff val="-134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7850582"/>
                <a:satOff val="49499"/>
                <a:lumOff val="-134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1" kern="1200" dirty="0" smtClean="0"/>
            <a:t>TRAINING</a:t>
          </a:r>
          <a:br>
            <a:rPr lang="en-US" sz="900" b="1" kern="1200" dirty="0" smtClean="0"/>
          </a:br>
          <a:r>
            <a:rPr lang="en-US" sz="900" b="1" kern="1200" dirty="0" smtClean="0"/>
            <a:t>&amp;</a:t>
          </a:r>
          <a:br>
            <a:rPr lang="en-US" sz="900" b="1" kern="1200" dirty="0" smtClean="0"/>
          </a:br>
          <a:r>
            <a:rPr lang="en-US" sz="900" b="1" kern="1200" dirty="0" smtClean="0"/>
            <a:t>DEVELOPMENT</a:t>
          </a:r>
          <a:endParaRPr lang="en-US" sz="900" b="1" kern="1200" dirty="0"/>
        </a:p>
      </dsp:txBody>
      <dsp:txXfrm>
        <a:off x="1266360" y="4256828"/>
        <a:ext cx="828475" cy="828475"/>
      </dsp:txXfrm>
    </dsp:sp>
    <dsp:sp modelId="{E49E5F1D-F91E-49CF-983F-69B4905E66BB}">
      <dsp:nvSpPr>
        <dsp:cNvPr id="0" name=""/>
        <dsp:cNvSpPr/>
      </dsp:nvSpPr>
      <dsp:spPr>
        <a:xfrm>
          <a:off x="393164" y="2391402"/>
          <a:ext cx="1171641" cy="1171641"/>
        </a:xfrm>
        <a:prstGeom prst="ellipse">
          <a:avLst/>
        </a:prstGeom>
        <a:gradFill rotWithShape="0">
          <a:gsLst>
            <a:gs pos="0">
              <a:schemeClr val="accent4">
                <a:hueOff val="-9420699"/>
                <a:satOff val="59399"/>
                <a:lumOff val="-161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9420699"/>
                <a:satOff val="59399"/>
                <a:lumOff val="-161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9420699"/>
                <a:satOff val="59399"/>
                <a:lumOff val="-161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HEALTH &amp;</a:t>
          </a:r>
          <a:br>
            <a:rPr lang="en-US" sz="800" b="1" kern="1200" dirty="0" smtClean="0"/>
          </a:br>
          <a:r>
            <a:rPr lang="en-US" sz="800" b="1" kern="1200" dirty="0" smtClean="0"/>
            <a:t>SAFETY</a:t>
          </a:r>
          <a:endParaRPr lang="en-US" sz="800" b="1" kern="1200" dirty="0"/>
        </a:p>
      </dsp:txBody>
      <dsp:txXfrm>
        <a:off x="564747" y="2562985"/>
        <a:ext cx="828475" cy="828475"/>
      </dsp:txXfrm>
    </dsp:sp>
    <dsp:sp modelId="{9BC4B894-E880-4AE0-AB52-7E0247C630CC}">
      <dsp:nvSpPr>
        <dsp:cNvPr id="0" name=""/>
        <dsp:cNvSpPr/>
      </dsp:nvSpPr>
      <dsp:spPr>
        <a:xfrm>
          <a:off x="1094777" y="697560"/>
          <a:ext cx="1171641" cy="1171641"/>
        </a:xfrm>
        <a:prstGeom prst="ellipse">
          <a:avLst/>
        </a:prstGeom>
        <a:gradFill rotWithShape="0">
          <a:gsLst>
            <a:gs pos="0">
              <a:schemeClr val="accent4">
                <a:hueOff val="-10990815"/>
                <a:satOff val="69299"/>
                <a:lumOff val="-188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0990815"/>
                <a:satOff val="69299"/>
                <a:lumOff val="-188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0990815"/>
                <a:satOff val="69299"/>
                <a:lumOff val="-188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kern="1200" dirty="0" smtClean="0"/>
            <a:t>ORGANIZATIONAL DEVELOPMENT</a:t>
          </a:r>
          <a:endParaRPr lang="en-US" sz="800" kern="1200" dirty="0"/>
        </a:p>
      </dsp:txBody>
      <dsp:txXfrm>
        <a:off x="1266360" y="869143"/>
        <a:ext cx="828475" cy="828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7/3/2023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7/3/2023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BB1A04-13E8-48CD-97F9-AC2568E1A8D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565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24A5A7-66A2-7F43-9A7A-5E13F74F8C0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 smtClean="0"/>
              <a:t>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 smtClean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 smtClean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 smtClean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49194-9068-41AA-B460-962319BF96A4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 smtClean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4020D1-D35E-497E-97F1-84A6EA9D048E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50A33E-CEFE-4D43-9554-513B01B1D3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smtClean="0"/>
              <a:t>Click icon to add table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0BB4D3D-930C-4FF4-BB7C-2CB24208150C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smtClean="0"/>
              <a:t>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52C5C1-EC33-44C1-9D54-A1058BBF1812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A2C98-F26E-415A-B931-1B89CA46C1CF}"/>
              </a:ext>
            </a:extLst>
          </p:cNvPr>
          <p:cNvSpPr txBox="1"/>
          <p:nvPr userDrawn="1"/>
        </p:nvSpPr>
        <p:spPr>
          <a:xfrm>
            <a:off x="11072378" y="235732"/>
            <a:ext cx="81464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b="1" noProof="0" dirty="0">
                <a:solidFill>
                  <a:schemeClr val="bg1"/>
                </a:solidFill>
                <a:latin typeface="Arial Black" panose="020B0A04020102020204" pitchFamily="34" charset="0"/>
              </a:rPr>
              <a:t>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2D954-332B-47D0-BE9F-0F2BDE779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131" y="1979613"/>
            <a:ext cx="9139738" cy="2898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534080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716" r:id="rId19"/>
    <p:sldLayoutId id="214748367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Building image">
            <a:extLst>
              <a:ext uri="{FF2B5EF4-FFF2-40B4-BE49-F238E27FC236}">
                <a16:creationId xmlns:a16="http://schemas.microsoft.com/office/drawing/2014/main" id="{257F6BCE-75BB-4ECD-BEA5-21C36A9CC0E9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20743" r="20743"/>
          <a:stretch>
            <a:fillRect/>
          </a:stretch>
        </p:blipFill>
        <p:spPr/>
      </p:pic>
      <p:sp>
        <p:nvSpPr>
          <p:cNvPr id="18" name="Hexagon 17">
            <a:extLst>
              <a:ext uri="{FF2B5EF4-FFF2-40B4-BE49-F238E27FC236}">
                <a16:creationId xmlns:a16="http://schemas.microsoft.com/office/drawing/2014/main" id="{0E6B042D-E9CB-40E0-AAE9-6AD11F53E04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679702" y="2388914"/>
            <a:ext cx="2412998" cy="2080172"/>
          </a:xfrm>
          <a:prstGeom prst="hexagon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 descr="Company name and logo group of information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2921596" y="2545664"/>
            <a:ext cx="2031325" cy="1714332"/>
            <a:chOff x="2934659" y="3167503"/>
            <a:chExt cx="2031325" cy="1714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3238427" y="3167503"/>
              <a:ext cx="142378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0" b="1" dirty="0" smtClean="0">
                  <a:solidFill>
                    <a:schemeClr val="bg1"/>
                  </a:solidFill>
                  <a:latin typeface="Arial Black" panose="020B0A04020102020204" pitchFamily="34" charset="0"/>
                </a:rPr>
                <a:t>HR</a:t>
              </a:r>
              <a:endParaRPr lang="en-US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2934659" y="4050838"/>
              <a:ext cx="203132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 smtClean="0">
                  <a:solidFill>
                    <a:schemeClr val="bg1"/>
                  </a:solidFill>
                  <a:latin typeface="Arial Black" panose="020B0A04020102020204" pitchFamily="34" charset="0"/>
                  <a:cs typeface="Calibri Light" panose="020F0302020204030204" pitchFamily="34" charset="0"/>
                </a:rPr>
                <a:t>PLAN</a:t>
              </a:r>
              <a:endParaRPr lang="en-US" sz="4800" dirty="0">
                <a:solidFill>
                  <a:schemeClr val="bg1"/>
                </a:solidFill>
                <a:latin typeface="Arial Black" panose="020B0A04020102020204" pitchFamily="34" charset="0"/>
                <a:cs typeface="Calibri Light" panose="020F030202020403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75721" y="2006084"/>
            <a:ext cx="5132656" cy="1616252"/>
          </a:xfrm>
        </p:spPr>
        <p:txBody>
          <a:bodyPr/>
          <a:lstStyle/>
          <a:p>
            <a:r>
              <a:rPr lang="en-US" dirty="0"/>
              <a:t>Presentation MAKER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HR Manager </a:t>
            </a:r>
          </a:p>
          <a:p>
            <a:pPr algn="ctr"/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Medhat</a:t>
            </a:r>
            <a:r>
              <a:rPr lang="en-US" b="1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b="1" dirty="0" err="1" smtClean="0">
                <a:solidFill>
                  <a:schemeClr val="accent6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elsawy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ghtbulb">
            <a:extLst>
              <a:ext uri="{FF2B5EF4-FFF2-40B4-BE49-F238E27FC236}">
                <a16:creationId xmlns:a16="http://schemas.microsoft.com/office/drawing/2014/main" id="{AC06F95D-BA5D-4DEE-93EF-3FE3173D13F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"/>
            <a:ext cx="1218838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4143" y="186025"/>
            <a:ext cx="6858000" cy="559563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dirty="0" smtClean="0"/>
              <a:t>Human resources functions</a:t>
            </a:r>
            <a:endParaRPr lang="en-US" dirty="0"/>
          </a:p>
        </p:txBody>
      </p:sp>
      <p:graphicFrame>
        <p:nvGraphicFramePr>
          <p:cNvPr id="13" name="Diagram 12"/>
          <p:cNvGraphicFramePr/>
          <p:nvPr>
            <p:extLst>
              <p:ext uri="{D42A27DB-BD31-4B8C-83A1-F6EECF244321}">
                <p14:modId xmlns:p14="http://schemas.microsoft.com/office/powerpoint/2010/main" val="3581224281"/>
              </p:ext>
            </p:extLst>
          </p:nvPr>
        </p:nvGraphicFramePr>
        <p:xfrm>
          <a:off x="678861" y="745588"/>
          <a:ext cx="6748881" cy="5954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8026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DF4E4D5F-3DC9-43A6-8176-DF8B5679F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5ACEEE10-198C-47E0-AABF-8A131E55CD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2BC978EE-333F-4FD9-971A-0238549D73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7C635755-B3CD-4516-8815-CCE42F1377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8F3A09D8-13C0-4C5A-95F8-87373F7B9EE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CA55146D-C55A-44EE-BE16-A8A3335266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8AA514F3-F5BC-4D6E-B858-BE9265947A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7E452B7F-20FA-4D65-9EED-B901444103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E164F8C1-3C4D-4719-B197-B89EF4D62A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FDC07DF4-87EC-4E4D-A5A8-5366CDEFD6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0E49AE87-23A6-478C-B258-C8AEB2E5E2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C2DE6E02-BB4B-48AC-9D07-95D02C6C0B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3F1638D0-9BAE-42CC-A288-C0D7CD6925B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E49E5F1D-F91E-49CF-983F-69B4905E66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C3BACF69-09CE-40AF-8041-AEF4DBC115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9BC4B894-E880-4AE0-AB52-7E0247C630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B531AF43-73CF-4320-90E4-CA4AFD715C0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3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422" y="1252025"/>
            <a:ext cx="116058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" y="0"/>
            <a:ext cx="12205736" cy="6858000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295422" y="168813"/>
            <a:ext cx="2096419" cy="1818754"/>
            <a:chOff x="2788619" y="-4052"/>
            <a:chExt cx="1171641" cy="1171641"/>
          </a:xfrm>
          <a:scene3d>
            <a:camera prst="orthographicFront"/>
            <a:lightRig rig="flat" dir="t"/>
          </a:scene3d>
        </p:grpSpPr>
        <p:sp>
          <p:nvSpPr>
            <p:cNvPr id="14" name="Oval 13"/>
            <p:cNvSpPr/>
            <p:nvPr/>
          </p:nvSpPr>
          <p:spPr>
            <a:xfrm>
              <a:off x="2788619" y="-4052"/>
              <a:ext cx="1171641" cy="1171641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Oval 4"/>
            <p:cNvSpPr txBox="1"/>
            <p:nvPr/>
          </p:nvSpPr>
          <p:spPr>
            <a:xfrm>
              <a:off x="2960202" y="167531"/>
              <a:ext cx="828475" cy="82847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kern="1200" cap="none" spc="0" dirty="0" smtClean="0">
                  <a:ln w="22225">
                    <a:prstDash val="solid"/>
                  </a:ln>
                  <a:effectLst/>
                  <a:latin typeface="Bahnschrift" panose="020B0502040204020203" pitchFamily="34" charset="0"/>
                </a:rPr>
                <a:t>PERSONNEL</a:t>
              </a:r>
              <a:endParaRPr lang="ar-EG" sz="2000" b="1" kern="1200" cap="none" spc="0" dirty="0" smtClean="0">
                <a:ln w="22225">
                  <a:prstDash val="solid"/>
                </a:ln>
                <a:effectLst/>
                <a:latin typeface="Bahnschrift" panose="020B0502040204020203" pitchFamily="34" charset="0"/>
              </a:endParaRPr>
            </a:p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EG" sz="2000" b="1" dirty="0" smtClean="0">
                  <a:ln w="22225">
                    <a:prstDash val="solid"/>
                  </a:ln>
                  <a:latin typeface="Bahnschrift" panose="020B0502040204020203" pitchFamily="34" charset="0"/>
                </a:rPr>
                <a:t>شئون العاملين</a:t>
              </a:r>
              <a:endParaRPr lang="en-US" sz="2000" b="1" kern="1200" cap="none" spc="0" dirty="0">
                <a:ln w="22225">
                  <a:prstDash val="solid"/>
                </a:ln>
                <a:effectLst/>
                <a:latin typeface="Bahnschrift" panose="020B0502040204020203" pitchFamily="34" charset="0"/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2518117" y="168813"/>
            <a:ext cx="9383151" cy="683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انشاء قاعدة بيانات تتضمن جميع البيانات والمعلومات للعاملين بالشركة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انشاء ملفات العاملين و تكويدها والتأكد من حفظها في مكان امن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حصر مسوغات التعيين الموجودة و الناقصة لكل عامل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وضع خطة لاستكمال مسوغات التعيين وتنفيذها علي المدي القصير دون اعاقة العمل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مراجعة موقف الشركة بالنسبة للتأمينات الاجتماعية والتأكد من ان جميع العاملين مؤمن عليهم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مراجعة س2 للشركة منذ سنة 2019 الي الان والتأكد من صحتها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استلام ومراجعة ايصالات السداد لجميع الصناديق </a:t>
            </a:r>
            <a:r>
              <a:rPr lang="ar-EG" sz="2000" b="1" dirty="0">
                <a:solidFill>
                  <a:schemeClr val="bg1"/>
                </a:solidFill>
              </a:rPr>
              <a:t>الحكومية ( اعانة الطوارئ , التدريب والتأهيل , حصيلة الجزاءات, الخدمات الصحية و الثقافية والاجتماعية </a:t>
            </a:r>
            <a:r>
              <a:rPr lang="ar-EG" sz="2000" b="1" dirty="0" smtClean="0">
                <a:solidFill>
                  <a:schemeClr val="bg1"/>
                </a:solidFill>
              </a:rPr>
              <a:t>)</a:t>
            </a:r>
            <a:endParaRPr lang="en-US" sz="2000" b="1" dirty="0" smtClean="0">
              <a:solidFill>
                <a:schemeClr val="bg1"/>
              </a:solidFill>
            </a:endParaRP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>
                <a:solidFill>
                  <a:schemeClr val="bg1"/>
                </a:solidFill>
              </a:rPr>
              <a:t>مراجعة واعداد سجلات المنشأة ( قيد العاملين - الاستدعاء - التجنيد - الجزاءات - الاصابات والحوادث - الاحتياط - سجل التامينات </a:t>
            </a:r>
            <a:r>
              <a:rPr lang="ar-EG" sz="2000" b="1" dirty="0" smtClean="0">
                <a:solidFill>
                  <a:schemeClr val="bg1"/>
                </a:solidFill>
              </a:rPr>
              <a:t>)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مراجعة تامينات السيارات الجامبو وكذلك السائقين الخاصة بهم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استلام ومراجعة ملف الرواتب ابتداء من عام 2021 وحتي الان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اللوائح الحكومية واعتمادها من مكتب العمل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استلام جميع نماذج الشركة ومراجعنها ومطابقتها بشهادة الايزو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استلام ومراجعة جميع التعاقدات الخارجية مع الشركة ( الامن – النظافة – الصيانة – الحشرات – </a:t>
            </a:r>
            <a:r>
              <a:rPr lang="en-US" sz="2000" b="1" dirty="0" smtClean="0">
                <a:solidFill>
                  <a:schemeClr val="bg1"/>
                </a:solidFill>
              </a:rPr>
              <a:t>outsourcing </a:t>
            </a:r>
            <a:r>
              <a:rPr lang="ar-EG" sz="2000" b="1" dirty="0" smtClean="0">
                <a:solidFill>
                  <a:schemeClr val="bg1"/>
                </a:solidFill>
              </a:rPr>
              <a:t> )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استخراج كروت مرتبات لجميع العاملين بالشركة </a:t>
            </a:r>
            <a:r>
              <a:rPr lang="en-US" sz="2000" b="1" dirty="0" smtClean="0">
                <a:solidFill>
                  <a:schemeClr val="bg1"/>
                </a:solidFill>
              </a:rPr>
              <a:t>ATM</a:t>
            </a:r>
            <a:endParaRPr lang="ar-EG" sz="2000" b="1" dirty="0" smtClean="0">
              <a:solidFill>
                <a:schemeClr val="bg1"/>
              </a:solidFill>
            </a:endParaRP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التقارير الخاصة بالحضور والانصراف يوميا ( الحضور اليومي – الغياب – المأموريات – الاذونات )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الرواتب شهريا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القيام بالتحقيقات الادارية اذا وجد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حساب مراكز التكلفة لكل ادارة واعداد جميع التقارير الخاصة بالرواتب </a:t>
            </a:r>
            <a:endParaRPr lang="ar-EG" sz="2000" b="1" dirty="0">
              <a:solidFill>
                <a:schemeClr val="bg1"/>
              </a:solidFill>
            </a:endParaRPr>
          </a:p>
          <a:p>
            <a:pPr>
              <a:buClr>
                <a:srgbClr val="FF0000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171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1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1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422" y="1252025"/>
            <a:ext cx="116058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" y="0"/>
            <a:ext cx="12205736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8117" y="168813"/>
            <a:ext cx="9383151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استكمال جميع الوظائف الخالية في الهيكل الوظيفي  وهي :- </a:t>
            </a:r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r>
              <a:rPr lang="ar-EG" b="1" dirty="0" smtClean="0">
                <a:solidFill>
                  <a:schemeClr val="bg1"/>
                </a:solidFill>
              </a:rPr>
              <a:t>اخصائي تسعير </a:t>
            </a:r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r>
              <a:rPr lang="ar-EG" b="1" dirty="0" smtClean="0">
                <a:solidFill>
                  <a:schemeClr val="bg1"/>
                </a:solidFill>
              </a:rPr>
              <a:t>عدد 2 عامل نظافة </a:t>
            </a:r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r>
              <a:rPr lang="ar-EG" b="1" dirty="0" smtClean="0">
                <a:solidFill>
                  <a:schemeClr val="bg1"/>
                </a:solidFill>
              </a:rPr>
              <a:t>مراقب جودة </a:t>
            </a:r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r>
              <a:rPr lang="ar-EG" b="1" dirty="0" smtClean="0">
                <a:solidFill>
                  <a:schemeClr val="bg1"/>
                </a:solidFill>
              </a:rPr>
              <a:t>اخصائي جودة </a:t>
            </a:r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r>
              <a:rPr lang="ar-EG" b="1" dirty="0" smtClean="0">
                <a:solidFill>
                  <a:schemeClr val="bg1"/>
                </a:solidFill>
              </a:rPr>
              <a:t>خدمة عملاء </a:t>
            </a:r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r>
              <a:rPr lang="ar-EG" b="1" dirty="0" smtClean="0">
                <a:solidFill>
                  <a:schemeClr val="bg1"/>
                </a:solidFill>
              </a:rPr>
              <a:t>محاسب</a:t>
            </a:r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r>
              <a:rPr lang="ar-EG" b="1" dirty="0" smtClean="0">
                <a:solidFill>
                  <a:schemeClr val="bg1"/>
                </a:solidFill>
              </a:rPr>
              <a:t>سائق جامبو </a:t>
            </a:r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r>
              <a:rPr lang="ar-EG" b="1" dirty="0" smtClean="0">
                <a:solidFill>
                  <a:schemeClr val="bg1"/>
                </a:solidFill>
              </a:rPr>
              <a:t>سائق خاص</a:t>
            </a:r>
          </a:p>
          <a:p>
            <a:pPr marL="285750" indent="-285750" algn="r" rtl="1">
              <a:buClr>
                <a:schemeClr val="accent4">
                  <a:lumMod val="60000"/>
                  <a:lumOff val="40000"/>
                </a:schemeClr>
              </a:buClr>
              <a:buFont typeface="Calibri" panose="020F0502020204030204" pitchFamily="34" charset="0"/>
              <a:buChar char="֍"/>
            </a:pPr>
            <a:r>
              <a:rPr lang="ar-EG" b="1" dirty="0" smtClean="0">
                <a:solidFill>
                  <a:schemeClr val="bg1"/>
                </a:solidFill>
              </a:rPr>
              <a:t>انشاء قوائم انتظار لجميع الوظائف الموجودة بالشركة </a:t>
            </a:r>
          </a:p>
          <a:p>
            <a:pPr marL="285750" indent="-285750" algn="r" rtl="1">
              <a:buClr>
                <a:schemeClr val="accent4">
                  <a:lumMod val="60000"/>
                  <a:lumOff val="40000"/>
                </a:schemeClr>
              </a:buClr>
              <a:buFont typeface="Calibri" panose="020F0502020204030204" pitchFamily="34" charset="0"/>
              <a:buChar char="֍"/>
            </a:pPr>
            <a:r>
              <a:rPr lang="ar-EG" b="1" dirty="0" smtClean="0">
                <a:solidFill>
                  <a:schemeClr val="bg1"/>
                </a:solidFill>
              </a:rPr>
              <a:t>اعداد خطة التوظيف الربع سنوية والسنوية </a:t>
            </a:r>
            <a:endParaRPr lang="ar-EG" b="1" dirty="0">
              <a:solidFill>
                <a:schemeClr val="bg1"/>
              </a:solidFill>
            </a:endParaRPr>
          </a:p>
          <a:p>
            <a:pPr algn="r" rtl="1">
              <a:buClr>
                <a:srgbClr val="FF0000"/>
              </a:buClr>
            </a:pPr>
            <a:endParaRPr lang="ar-EG" dirty="0" smtClean="0"/>
          </a:p>
          <a:p>
            <a:pPr marL="342900" indent="-342900" algn="r" rtl="1">
              <a:buClr>
                <a:srgbClr val="FF0000"/>
              </a:buClr>
              <a:buFont typeface="+mj-lt"/>
              <a:buAutoNum type="arabicParenR"/>
            </a:pPr>
            <a:endParaRPr lang="en-US" dirty="0"/>
          </a:p>
        </p:txBody>
      </p:sp>
      <p:grpSp>
        <p:nvGrpSpPr>
          <p:cNvPr id="17" name="Group 16"/>
          <p:cNvGrpSpPr/>
          <p:nvPr/>
        </p:nvGrpSpPr>
        <p:grpSpPr>
          <a:xfrm>
            <a:off x="295422" y="225084"/>
            <a:ext cx="2072308" cy="1865425"/>
            <a:chOff x="4482462" y="697560"/>
            <a:chExt cx="1171641" cy="1171641"/>
          </a:xfrm>
          <a:scene3d>
            <a:camera prst="orthographicFront"/>
            <a:lightRig rig="flat" dir="t"/>
          </a:scene3d>
        </p:grpSpPr>
        <p:sp>
          <p:nvSpPr>
            <p:cNvPr id="18" name="Oval 17"/>
            <p:cNvSpPr/>
            <p:nvPr/>
          </p:nvSpPr>
          <p:spPr>
            <a:xfrm>
              <a:off x="4482462" y="697560"/>
              <a:ext cx="1171641" cy="1171641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1570116"/>
                <a:satOff val="9900"/>
                <a:lumOff val="-2689"/>
                <a:alphaOff val="0"/>
              </a:schemeClr>
            </a:fillRef>
            <a:effectRef idx="2">
              <a:schemeClr val="accent4">
                <a:hueOff val="-1570116"/>
                <a:satOff val="9900"/>
                <a:lumOff val="-2689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Oval 4"/>
            <p:cNvSpPr txBox="1"/>
            <p:nvPr/>
          </p:nvSpPr>
          <p:spPr>
            <a:xfrm>
              <a:off x="4654045" y="869143"/>
              <a:ext cx="828475" cy="82847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dirty="0" smtClean="0">
                  <a:ln w="22225">
                    <a:prstDash val="solid"/>
                  </a:ln>
                  <a:latin typeface="Bahnschrift" panose="020B0502040204020203" pitchFamily="34" charset="0"/>
                </a:rPr>
                <a:t>RECRUITMNT</a:t>
              </a:r>
              <a:endParaRPr lang="ar-EG" sz="1400" b="1" dirty="0" smtClean="0">
                <a:ln w="22225">
                  <a:prstDash val="solid"/>
                </a:ln>
                <a:latin typeface="Bahnschrift" panose="020B0502040204020203" pitchFamily="34" charset="0"/>
              </a:endParaRPr>
            </a:p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700" kern="1200" dirty="0" smtClean="0"/>
                <a:t> </a:t>
              </a:r>
              <a:r>
                <a:rPr lang="en-US" b="1" dirty="0" smtClean="0">
                  <a:ln w="22225">
                    <a:prstDash val="solid"/>
                  </a:ln>
                  <a:latin typeface="Bahnschrift" panose="020B0502040204020203" pitchFamily="34" charset="0"/>
                </a:rPr>
                <a:t>&amp;</a:t>
              </a:r>
            </a:p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700" kern="1200" dirty="0" smtClean="0"/>
                <a:t> </a:t>
              </a:r>
              <a:r>
                <a:rPr lang="en-US" sz="1600" b="1" dirty="0" smtClean="0">
                  <a:ln w="22225">
                    <a:prstDash val="solid"/>
                  </a:ln>
                  <a:latin typeface="Bahnschrift" panose="020B0502040204020203" pitchFamily="34" charset="0"/>
                </a:rPr>
                <a:t>selection</a:t>
              </a:r>
            </a:p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EG" sz="1600" b="1" dirty="0" smtClean="0">
                  <a:ln w="22225">
                    <a:prstDash val="solid"/>
                  </a:ln>
                  <a:latin typeface="Bahnschrift" panose="020B0502040204020203" pitchFamily="34" charset="0"/>
                </a:rPr>
                <a:t>الانتقاء و التوظيف</a:t>
              </a:r>
              <a:endParaRPr lang="en-US" sz="1600" b="1" dirty="0">
                <a:ln w="22225">
                  <a:prstDash val="solid"/>
                </a:ln>
                <a:latin typeface="Bahnschrift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583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422" y="1252025"/>
            <a:ext cx="116058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" y="0"/>
            <a:ext cx="12205736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8117" y="168813"/>
            <a:ext cx="93831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يهدف التخطيط الي تحقيق خمسة اهداف وهي :- </a:t>
            </a:r>
          </a:p>
          <a:p>
            <a:pPr marL="342900" indent="-342900" algn="r" rtl="1">
              <a:buClr>
                <a:srgbClr val="F4EF1D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الانتاجية </a:t>
            </a:r>
          </a:p>
          <a:p>
            <a:pPr marL="342900" indent="-342900" algn="r" rtl="1">
              <a:buClr>
                <a:srgbClr val="F4EF1D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الربحية </a:t>
            </a:r>
          </a:p>
          <a:p>
            <a:pPr marL="342900" indent="-342900" algn="r" rtl="1">
              <a:buClr>
                <a:srgbClr val="F4EF1D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الجودة </a:t>
            </a:r>
          </a:p>
          <a:p>
            <a:pPr marL="342900" indent="-342900" algn="r" rtl="1">
              <a:buClr>
                <a:srgbClr val="F4EF1D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ارضاء العملاء</a:t>
            </a:r>
          </a:p>
          <a:p>
            <a:pPr marL="342900" indent="-342900" algn="r" rtl="1">
              <a:buClr>
                <a:srgbClr val="F4EF1D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العلاقات الداخلية </a:t>
            </a:r>
          </a:p>
          <a:p>
            <a:pPr algn="r" rtl="1">
              <a:buClr>
                <a:srgbClr val="F4EF1D"/>
              </a:buClr>
            </a:pPr>
            <a:r>
              <a:rPr lang="ar-EG" sz="2000" b="1" dirty="0" smtClean="0">
                <a:solidFill>
                  <a:schemeClr val="bg1"/>
                </a:solidFill>
              </a:rPr>
              <a:t>وذلك بتحقق المعادلة ان العدد المناسب والصحيح من العمالة يعملون في القسم الصحيح وفي الوقت المناسب </a:t>
            </a:r>
          </a:p>
          <a:p>
            <a:pPr marL="285750" indent="-28575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تخطيط والتعامل مع فائض العمالة وكذلك نقص العمالة دون الاحتياج الي التعيين او الفصل </a:t>
            </a:r>
          </a:p>
          <a:p>
            <a:pPr marL="285750" indent="-28575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انشاء تحليل لكل وظيفة وكذلك وضع مسؤليات ومهام كل وظيفة </a:t>
            </a:r>
          </a:p>
          <a:p>
            <a:pPr marL="285750" indent="-28575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الوصف الوظيفي لجميع الوظائف الموجودة بالشركة </a:t>
            </a: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431742" y="214583"/>
            <a:ext cx="1781575" cy="1768962"/>
            <a:chOff x="5184075" y="2391402"/>
            <a:chExt cx="1171641" cy="1171641"/>
          </a:xfrm>
          <a:scene3d>
            <a:camera prst="orthographicFront"/>
            <a:lightRig rig="flat" dir="t"/>
          </a:scene3d>
        </p:grpSpPr>
        <p:sp>
          <p:nvSpPr>
            <p:cNvPr id="9" name="Oval 8"/>
            <p:cNvSpPr/>
            <p:nvPr/>
          </p:nvSpPr>
          <p:spPr>
            <a:xfrm>
              <a:off x="5184075" y="2391402"/>
              <a:ext cx="1171641" cy="1171641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3140233"/>
                <a:satOff val="19800"/>
                <a:lumOff val="-5378"/>
                <a:alphaOff val="0"/>
              </a:schemeClr>
            </a:fillRef>
            <a:effectRef idx="2">
              <a:schemeClr val="accent4">
                <a:hueOff val="-3140233"/>
                <a:satOff val="19800"/>
                <a:lumOff val="-5378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Oval 4"/>
            <p:cNvSpPr txBox="1"/>
            <p:nvPr/>
          </p:nvSpPr>
          <p:spPr>
            <a:xfrm>
              <a:off x="5355658" y="2562985"/>
              <a:ext cx="828475" cy="82847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400" b="1" kern="1200" dirty="0" smtClean="0"/>
                <a:t>Planning</a:t>
              </a:r>
              <a:endParaRPr lang="ar-EG" sz="2400" b="1" kern="1200" dirty="0" smtClean="0"/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EG" sz="2400" b="1" dirty="0" smtClean="0"/>
                <a:t>التخطيط </a:t>
              </a:r>
              <a:endParaRPr lang="en-US" sz="1200" b="1" kern="12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199528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422" y="1252025"/>
            <a:ext cx="116058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" y="0"/>
            <a:ext cx="12205736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8117" y="168813"/>
            <a:ext cx="938315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استخراج البطاقة العلاجية الخاصة بالتامين الصحي الحكومي لكل العاملين بالشركة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التعاقد مع شركة تامين طبي خاص واستخارج كروت التامين الصحي الخاص لكل العاملين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ترتيب رحلات ترفيهية للعاملين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دراسة واعداد نظام للحوافز والمكافات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لائحة السلف </a:t>
            </a:r>
          </a:p>
          <a:p>
            <a:pPr>
              <a:buClr>
                <a:srgbClr val="FF0000"/>
              </a:buClr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235128" y="80384"/>
            <a:ext cx="2423666" cy="1931296"/>
            <a:chOff x="4689449" y="4155603"/>
            <a:chExt cx="1171641" cy="1171641"/>
          </a:xfrm>
          <a:scene3d>
            <a:camera prst="orthographicFront"/>
            <a:lightRig rig="flat" dir="t"/>
          </a:scene3d>
        </p:grpSpPr>
        <p:sp>
          <p:nvSpPr>
            <p:cNvPr id="9" name="Oval 8"/>
            <p:cNvSpPr/>
            <p:nvPr/>
          </p:nvSpPr>
          <p:spPr>
            <a:xfrm>
              <a:off x="4689449" y="4155603"/>
              <a:ext cx="1171641" cy="1171641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4710349"/>
                <a:satOff val="29700"/>
                <a:lumOff val="-8067"/>
                <a:alphaOff val="0"/>
              </a:schemeClr>
            </a:fillRef>
            <a:effectRef idx="2">
              <a:schemeClr val="accent4">
                <a:hueOff val="-4710349"/>
                <a:satOff val="29700"/>
                <a:lumOff val="-806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Oval 4"/>
            <p:cNvSpPr txBox="1"/>
            <p:nvPr/>
          </p:nvSpPr>
          <p:spPr>
            <a:xfrm>
              <a:off x="4861032" y="4327186"/>
              <a:ext cx="828475" cy="82847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780" tIns="17780" rIns="17780" bIns="17780" numCol="1" spcCol="1270" anchor="ctr" anchorCtr="0">
              <a:noAutofit/>
            </a:bodyPr>
            <a:lstStyle/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COM &amp; BIN</a:t>
              </a:r>
              <a:endParaRPr lang="ar-EG" sz="1400" b="1" kern="1200" dirty="0" smtClean="0"/>
            </a:p>
            <a:p>
              <a:pPr lvl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EG" sz="1400" b="1" dirty="0" smtClean="0"/>
                <a:t>المزايا والتعويضات </a:t>
              </a:r>
              <a:endParaRPr lang="en-US" sz="14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12855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422" y="1252025"/>
            <a:ext cx="116058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" y="0"/>
            <a:ext cx="12205736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8117" y="168813"/>
            <a:ext cx="93831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نظام لتقييم الاداء السلوكي والفني لجميع العامليين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مؤشرات الاداء السنوية و نصف السنوية و ربع السنوية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مقايسس الاشراف والادارة لجميع وظائف الشركة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تقويم الاداء الضعيف عن طريق البرامج التدريبية 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95422" y="168813"/>
            <a:ext cx="1800664" cy="1730325"/>
            <a:chOff x="2788619" y="4786858"/>
            <a:chExt cx="1171641" cy="1171641"/>
          </a:xfrm>
          <a:scene3d>
            <a:camera prst="orthographicFront"/>
            <a:lightRig rig="flat" dir="t"/>
          </a:scene3d>
        </p:grpSpPr>
        <p:sp>
          <p:nvSpPr>
            <p:cNvPr id="9" name="Oval 8"/>
            <p:cNvSpPr/>
            <p:nvPr/>
          </p:nvSpPr>
          <p:spPr>
            <a:xfrm>
              <a:off x="2788619" y="4786858"/>
              <a:ext cx="1171641" cy="1171641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6280466"/>
                <a:satOff val="39599"/>
                <a:lumOff val="-10757"/>
                <a:alphaOff val="0"/>
              </a:schemeClr>
            </a:fillRef>
            <a:effectRef idx="2">
              <a:schemeClr val="accent4">
                <a:hueOff val="-6280466"/>
                <a:satOff val="39599"/>
                <a:lumOff val="-10757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Oval 4"/>
            <p:cNvSpPr txBox="1"/>
            <p:nvPr/>
          </p:nvSpPr>
          <p:spPr>
            <a:xfrm>
              <a:off x="2960202" y="4958441"/>
              <a:ext cx="828475" cy="82847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b="1" kern="1200" dirty="0" smtClean="0"/>
                <a:t>PERFORMANCE MANAGEMEN</a:t>
              </a:r>
              <a:r>
                <a:rPr lang="en-US" sz="1200" b="1" kern="1200" dirty="0" smtClean="0"/>
                <a:t>T</a:t>
              </a:r>
              <a:endParaRPr lang="ar-EG" sz="1200" b="1" kern="1200" dirty="0" smtClean="0"/>
            </a:p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EG" b="1" dirty="0" smtClean="0"/>
                <a:t>تقييم الاداء </a:t>
              </a:r>
              <a:endParaRPr lang="en-US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5228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422" y="1252025"/>
            <a:ext cx="116058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" y="0"/>
            <a:ext cx="12205736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8117" y="168813"/>
            <a:ext cx="938315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معرفة وتحديد احتياجات الشركة من العاملين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انشاء خطة التدريب لجميع العاملين بالشركة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انشاء خطة لتطوير جميع الكوادر بالشركة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حساب العائد من التدريب ومقارنته بالنتائج المحققة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تنفيذ البرامج التدريبية للعاملين المحددين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تقييم التدريب والتطوير للتأكد من تحقيق الاهداف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endParaRPr lang="ar-EG" sz="2000" b="1" dirty="0">
              <a:solidFill>
                <a:schemeClr val="bg1"/>
              </a:solidFill>
            </a:endParaRPr>
          </a:p>
          <a:p>
            <a:pPr>
              <a:buClr>
                <a:srgbClr val="FF0000"/>
              </a:buClr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7583" y="40192"/>
            <a:ext cx="2725955" cy="2407586"/>
            <a:chOff x="1094777" y="4085245"/>
            <a:chExt cx="1171641" cy="1171641"/>
          </a:xfrm>
          <a:scene3d>
            <a:camera prst="orthographicFront"/>
            <a:lightRig rig="flat" dir="t"/>
          </a:scene3d>
        </p:grpSpPr>
        <p:sp>
          <p:nvSpPr>
            <p:cNvPr id="9" name="Oval 8"/>
            <p:cNvSpPr/>
            <p:nvPr/>
          </p:nvSpPr>
          <p:spPr>
            <a:xfrm>
              <a:off x="1094777" y="4085245"/>
              <a:ext cx="1171641" cy="1171641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7850582"/>
                <a:satOff val="49499"/>
                <a:lumOff val="-13446"/>
                <a:alphaOff val="0"/>
              </a:schemeClr>
            </a:fillRef>
            <a:effectRef idx="2">
              <a:schemeClr val="accent4">
                <a:hueOff val="-7850582"/>
                <a:satOff val="49499"/>
                <a:lumOff val="-13446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Oval 4"/>
            <p:cNvSpPr txBox="1"/>
            <p:nvPr/>
          </p:nvSpPr>
          <p:spPr>
            <a:xfrm>
              <a:off x="1266360" y="4256828"/>
              <a:ext cx="828475" cy="82847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" tIns="11430" rIns="11430" bIns="11430" numCol="1" spcCol="1270" anchor="ctr" anchorCtr="0">
              <a:noAutofit/>
            </a:bodyPr>
            <a:lstStyle/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 smtClean="0"/>
                <a:t>TRAINING</a:t>
              </a:r>
              <a:br>
                <a:rPr lang="en-US" b="1" kern="1200" dirty="0" smtClean="0"/>
              </a:br>
              <a:r>
                <a:rPr lang="en-US" b="1" kern="1200" dirty="0" smtClean="0"/>
                <a:t>&amp;</a:t>
              </a:r>
              <a:br>
                <a:rPr lang="en-US" b="1" kern="1200" dirty="0" smtClean="0"/>
              </a:br>
              <a:r>
                <a:rPr lang="en-US" b="1" kern="1200" dirty="0" smtClean="0"/>
                <a:t>DEVELOPMENT</a:t>
              </a:r>
              <a:endParaRPr lang="ar-EG" b="1" kern="1200" dirty="0" smtClean="0"/>
            </a:p>
            <a:p>
              <a:pPr lvl="0"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EG" b="1" dirty="0" smtClean="0"/>
                <a:t>التدريب والتطوير </a:t>
              </a:r>
              <a:endParaRPr lang="en-US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01878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422" y="1252025"/>
            <a:ext cx="116058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" y="0"/>
            <a:ext cx="12205736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8117" y="168813"/>
            <a:ext cx="9383151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خطة للطوارئ تتضمن الاتي :- </a:t>
            </a:r>
          </a:p>
          <a:p>
            <a:pPr marL="457200" indent="-457200" algn="r" rtl="1">
              <a:buClr>
                <a:srgbClr val="FFFF00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خطة الاخلاء </a:t>
            </a:r>
          </a:p>
          <a:p>
            <a:pPr marL="457200" indent="-457200" algn="r" rtl="1">
              <a:buClr>
                <a:srgbClr val="FFFF00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خطة مكافحة الحريق</a:t>
            </a:r>
          </a:p>
          <a:p>
            <a:pPr marL="457200" indent="-457200" algn="r" rtl="1">
              <a:buClr>
                <a:srgbClr val="FFFF00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خطة مكافحة الكوارث</a:t>
            </a:r>
          </a:p>
          <a:p>
            <a:pPr marL="457200" indent="-457200" algn="r" rtl="1">
              <a:buClr>
                <a:srgbClr val="FFFF00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تحديد جماعة الاسعافات الاولية </a:t>
            </a:r>
          </a:p>
          <a:p>
            <a:pPr marL="457200" indent="-457200" algn="r" rtl="1">
              <a:buClr>
                <a:srgbClr val="FFFF00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تحديد جماعة الاخلاء </a:t>
            </a:r>
          </a:p>
          <a:p>
            <a:pPr marL="457200" indent="-457200" algn="r" rtl="1">
              <a:buClr>
                <a:srgbClr val="FFFF00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تحديد جماعة الحريق</a:t>
            </a:r>
          </a:p>
          <a:p>
            <a:pPr marL="457200" indent="-457200" algn="r" rtl="1">
              <a:buClr>
                <a:srgbClr val="FFFF00"/>
              </a:buClr>
              <a:buFont typeface="+mj-lt"/>
              <a:buAutoNum type="arabicParenR"/>
            </a:pPr>
            <a:r>
              <a:rPr lang="ar-EG" sz="2000" b="1" dirty="0" smtClean="0">
                <a:solidFill>
                  <a:schemeClr val="bg1"/>
                </a:solidFill>
              </a:rPr>
              <a:t>تحديد نقطة التجمع المركزية </a:t>
            </a:r>
          </a:p>
          <a:p>
            <a:pPr marL="342900" indent="-34290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تقارير السلامة والصحة المهنية ( تقرير الاصابات الدوري – تحليل اسباب الاصابات – تقرير العوامل الخطرة )</a:t>
            </a:r>
          </a:p>
          <a:p>
            <a:pPr marL="342900" indent="-34290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تأمين العاملين بالمنشأة من الاصابة اثناء العمل عن طريق الفحص الدورى والمستمر لبيئة العمل </a:t>
            </a:r>
          </a:p>
          <a:p>
            <a:pPr marL="342900" indent="-34290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تنفيذ جميع الاجراءات الاحترازية للحماية من العدوي او الاصابة بالامراض المعدية </a:t>
            </a:r>
          </a:p>
          <a:p>
            <a:pPr marL="342900" indent="-34290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تقرير عن المخلفات والمستهلكات وتامين تخزينها لحين التخلص منها </a:t>
            </a:r>
          </a:p>
          <a:p>
            <a:pPr marL="342900" indent="-34290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تدريب العاملين علي التعامل مع الاخطار التي قد تحدث اثناء العمل </a:t>
            </a:r>
          </a:p>
          <a:p>
            <a:pPr marL="342900" indent="-34290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لجنة السلامة والصحة المهنية واعتمادها من مكتب السلامة والصحة المهنية </a:t>
            </a:r>
          </a:p>
          <a:p>
            <a:pPr marL="342900" indent="-34290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خطة تدريب للعاملين للمكافحة المدنية في معهد المكافحة المدنية التابع لوزارة الداخلية</a:t>
            </a:r>
          </a:p>
          <a:p>
            <a:pPr marL="342900" indent="-342900" algn="r" rtl="1">
              <a:buClr>
                <a:schemeClr val="accent4">
                  <a:lumMod val="75000"/>
                </a:schemeClr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متابعة مكافحة القوارض مع متابعة زيارة شركات القوارض  </a:t>
            </a:r>
            <a:endParaRPr lang="ar-EG" sz="2000" b="1" dirty="0">
              <a:solidFill>
                <a:schemeClr val="bg1"/>
              </a:solidFill>
            </a:endParaRPr>
          </a:p>
          <a:p>
            <a:pPr>
              <a:buClr>
                <a:srgbClr val="FF0000"/>
              </a:buClr>
            </a:pPr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7583" y="80384"/>
            <a:ext cx="2430534" cy="1706213"/>
            <a:chOff x="393164" y="2391402"/>
            <a:chExt cx="1171641" cy="1171641"/>
          </a:xfrm>
          <a:scene3d>
            <a:camera prst="orthographicFront"/>
            <a:lightRig rig="flat" dir="t"/>
          </a:scene3d>
        </p:grpSpPr>
        <p:sp>
          <p:nvSpPr>
            <p:cNvPr id="9" name="Oval 8"/>
            <p:cNvSpPr/>
            <p:nvPr/>
          </p:nvSpPr>
          <p:spPr>
            <a:xfrm>
              <a:off x="393164" y="2391402"/>
              <a:ext cx="1171641" cy="1171641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9420699"/>
                <a:satOff val="59399"/>
                <a:lumOff val="-16135"/>
                <a:alphaOff val="0"/>
              </a:schemeClr>
            </a:fillRef>
            <a:effectRef idx="2">
              <a:schemeClr val="accent4">
                <a:hueOff val="-9420699"/>
                <a:satOff val="59399"/>
                <a:lumOff val="-16135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Oval 4"/>
            <p:cNvSpPr txBox="1"/>
            <p:nvPr/>
          </p:nvSpPr>
          <p:spPr>
            <a:xfrm>
              <a:off x="564747" y="2562985"/>
              <a:ext cx="828475" cy="828475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kern="1200" dirty="0" smtClean="0"/>
                <a:t>HEALTH &amp;</a:t>
              </a:r>
              <a:r>
                <a:rPr lang="ar-EG" sz="2000" b="1" kern="1200" dirty="0" smtClean="0"/>
                <a:t> </a:t>
              </a:r>
              <a:r>
                <a:rPr lang="en-US" sz="2000" b="1" kern="1200" dirty="0" smtClean="0"/>
                <a:t>SAFETY</a:t>
              </a:r>
              <a:endParaRPr lang="ar-EG" sz="2000" b="1" kern="1200" dirty="0" smtClean="0"/>
            </a:p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EG" sz="2000" b="1" dirty="0" smtClean="0"/>
                <a:t>السلامة والصحة المهنية </a:t>
              </a:r>
              <a:endParaRPr lang="en-US" sz="2000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88033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1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1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1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95422" y="1252025"/>
            <a:ext cx="116058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 smtClean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  <a:p>
            <a:pPr marL="285750" indent="-285750">
              <a:buClr>
                <a:schemeClr val="bg1"/>
              </a:buClr>
              <a:buFont typeface="Calibri" panose="020F0502020204030204" pitchFamily="34" charset="0"/>
              <a:buChar char="֍"/>
            </a:pP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" y="0"/>
            <a:ext cx="12205736" cy="685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18117" y="168813"/>
            <a:ext cx="93831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التسلسل الوظيفي لكل وظيفة ( </a:t>
            </a:r>
            <a:r>
              <a:rPr lang="en-US" sz="2000" b="1" dirty="0" smtClean="0">
                <a:solidFill>
                  <a:schemeClr val="bg1"/>
                </a:solidFill>
              </a:rPr>
              <a:t>career path</a:t>
            </a:r>
            <a:r>
              <a:rPr lang="ar-EG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ar-EG" sz="2000" b="1" dirty="0" smtClean="0">
                <a:solidFill>
                  <a:schemeClr val="bg1"/>
                </a:solidFill>
              </a:rPr>
              <a:t>)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مصفوفة الرواتب لكل وظيفة ( </a:t>
            </a:r>
            <a:r>
              <a:rPr lang="en-US" sz="2000" b="1" dirty="0" smtClean="0">
                <a:solidFill>
                  <a:schemeClr val="bg1"/>
                </a:solidFill>
              </a:rPr>
              <a:t>salary grade</a:t>
            </a:r>
            <a:r>
              <a:rPr lang="ar-EG" sz="2000" b="1" dirty="0" smtClean="0">
                <a:solidFill>
                  <a:schemeClr val="bg1"/>
                </a:solidFill>
              </a:rPr>
              <a:t> 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  <a:r>
              <a:rPr lang="ar-EG" sz="2000" b="1" dirty="0" smtClean="0">
                <a:solidFill>
                  <a:schemeClr val="bg1"/>
                </a:solidFill>
              </a:rPr>
              <a:t>)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الهيكل الاداري لجميع الوظائف والادارات ( </a:t>
            </a:r>
            <a:r>
              <a:rPr lang="en-US" sz="2000" b="1" dirty="0" smtClean="0">
                <a:solidFill>
                  <a:schemeClr val="bg1"/>
                </a:solidFill>
              </a:rPr>
              <a:t>organization chart </a:t>
            </a:r>
            <a:r>
              <a:rPr lang="ar-EG" sz="2000" b="1" dirty="0" smtClean="0">
                <a:solidFill>
                  <a:schemeClr val="bg1"/>
                </a:solidFill>
              </a:rPr>
              <a:t> )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خطة الاعتمادات </a:t>
            </a:r>
            <a:r>
              <a:rPr lang="en-US" sz="2000" b="1" dirty="0" smtClean="0">
                <a:solidFill>
                  <a:schemeClr val="bg1"/>
                </a:solidFill>
              </a:rPr>
              <a:t>( approval cycle )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التتابع الاداري </a:t>
            </a:r>
            <a:r>
              <a:rPr lang="en-US" sz="2000" b="1" dirty="0" smtClean="0">
                <a:solidFill>
                  <a:schemeClr val="bg1"/>
                </a:solidFill>
              </a:rPr>
              <a:t>( work flow )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السياسات الداخلية للشركة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اللوائح الداخلية للشركة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اعداد البيانات و المعلومات اللازمة للبدء بالعمل بنظام </a:t>
            </a:r>
            <a:r>
              <a:rPr lang="en-US" sz="2000" b="1" dirty="0" err="1" smtClean="0">
                <a:solidFill>
                  <a:schemeClr val="bg1"/>
                </a:solidFill>
              </a:rPr>
              <a:t>Odoo</a:t>
            </a:r>
            <a:r>
              <a:rPr lang="en-US" sz="2000" b="1" dirty="0" smtClean="0">
                <a:solidFill>
                  <a:schemeClr val="bg1"/>
                </a:solidFill>
              </a:rPr>
              <a:t> </a:t>
            </a:r>
          </a:p>
          <a:p>
            <a:pPr marL="285750" indent="-285750" algn="r" rtl="1">
              <a:buClr>
                <a:srgbClr val="AB6186"/>
              </a:buClr>
              <a:buFont typeface="Calibri" panose="020F0502020204030204" pitchFamily="34" charset="0"/>
              <a:buChar char="֍"/>
            </a:pPr>
            <a:r>
              <a:rPr lang="ar-EG" sz="2000" b="1" dirty="0" smtClean="0">
                <a:solidFill>
                  <a:schemeClr val="bg1"/>
                </a:solidFill>
              </a:rPr>
              <a:t>تدريب ومتابعة جميع العاملين علي استخدام البرنامج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-9377" y="0"/>
            <a:ext cx="3089870" cy="2243573"/>
            <a:chOff x="1052668" y="644963"/>
            <a:chExt cx="1341905" cy="1468019"/>
          </a:xfrm>
          <a:scene3d>
            <a:camera prst="orthographicFront"/>
            <a:lightRig rig="flat" dir="t"/>
          </a:scene3d>
        </p:grpSpPr>
        <p:sp>
          <p:nvSpPr>
            <p:cNvPr id="9" name="Oval 8"/>
            <p:cNvSpPr/>
            <p:nvPr/>
          </p:nvSpPr>
          <p:spPr>
            <a:xfrm>
              <a:off x="1094777" y="697560"/>
              <a:ext cx="1171641" cy="1171641"/>
            </a:xfrm>
            <a:prstGeom prst="ellipse">
              <a:avLst/>
            </a:prstGeom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-10990815"/>
                <a:satOff val="69299"/>
                <a:lumOff val="-18824"/>
                <a:alphaOff val="0"/>
              </a:schemeClr>
            </a:fillRef>
            <a:effectRef idx="2">
              <a:schemeClr val="accent4">
                <a:hueOff val="-10990815"/>
                <a:satOff val="69299"/>
                <a:lumOff val="-18824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Oval 4"/>
            <p:cNvSpPr txBox="1"/>
            <p:nvPr/>
          </p:nvSpPr>
          <p:spPr>
            <a:xfrm>
              <a:off x="1052668" y="644963"/>
              <a:ext cx="1341905" cy="1468019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160" tIns="10160" rIns="10160" bIns="10160" numCol="1" spcCol="1270" anchor="ctr" anchorCtr="0">
              <a:noAutofit/>
            </a:bodyPr>
            <a:lstStyle/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b="1" kern="1200" dirty="0" smtClean="0"/>
                <a:t>ORGANIZATIONAL DEVELOPMENT</a:t>
              </a:r>
              <a:endParaRPr lang="ar-EG" b="1" kern="1200" dirty="0" smtClean="0"/>
            </a:p>
            <a:p>
              <a:pPr lvl="0"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ar-EG" b="1" dirty="0" smtClean="0"/>
                <a:t>تطوير المنشأة</a:t>
              </a:r>
              <a:endParaRPr lang="en-US" b="1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97746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7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Operation</a:t>
            </a:r>
          </a:p>
        </p:txBody>
      </p:sp>
      <p:graphicFrame>
        <p:nvGraphicFramePr>
          <p:cNvPr id="19" name="Table Placeholder 10">
            <a:extLst>
              <a:ext uri="{FF2B5EF4-FFF2-40B4-BE49-F238E27FC236}">
                <a16:creationId xmlns:a16="http://schemas.microsoft.com/office/drawing/2014/main" id="{FA7555E4-6CFC-1C44-B97A-BFEC35A63419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653396134"/>
              </p:ext>
            </p:extLst>
          </p:nvPr>
        </p:nvGraphicFramePr>
        <p:xfrm>
          <a:off x="609600" y="1949135"/>
          <a:ext cx="10854695" cy="2793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0939">
                  <a:extLst>
                    <a:ext uri="{9D8B030D-6E8A-4147-A177-3AD203B41FA5}">
                      <a16:colId xmlns:a16="http://schemas.microsoft.com/office/drawing/2014/main" val="4235906612"/>
                    </a:ext>
                  </a:extLst>
                </a:gridCol>
                <a:gridCol w="2170939">
                  <a:extLst>
                    <a:ext uri="{9D8B030D-6E8A-4147-A177-3AD203B41FA5}">
                      <a16:colId xmlns:a16="http://schemas.microsoft.com/office/drawing/2014/main" val="284311610"/>
                    </a:ext>
                  </a:extLst>
                </a:gridCol>
                <a:gridCol w="2293384">
                  <a:extLst>
                    <a:ext uri="{9D8B030D-6E8A-4147-A177-3AD203B41FA5}">
                      <a16:colId xmlns:a16="http://schemas.microsoft.com/office/drawing/2014/main" val="1235871454"/>
                    </a:ext>
                  </a:extLst>
                </a:gridCol>
                <a:gridCol w="2048494">
                  <a:extLst>
                    <a:ext uri="{9D8B030D-6E8A-4147-A177-3AD203B41FA5}">
                      <a16:colId xmlns:a16="http://schemas.microsoft.com/office/drawing/2014/main" val="2126728798"/>
                    </a:ext>
                  </a:extLst>
                </a:gridCol>
                <a:gridCol w="2170939">
                  <a:extLst>
                    <a:ext uri="{9D8B030D-6E8A-4147-A177-3AD203B41FA5}">
                      <a16:colId xmlns:a16="http://schemas.microsoft.com/office/drawing/2014/main" val="2084617311"/>
                    </a:ext>
                  </a:extLst>
                </a:gridCol>
              </a:tblGrid>
              <a:tr h="698309"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u="none" strike="noStrike" kern="1200" dirty="0" smtClean="0">
                          <a:solidFill>
                            <a:srgbClr val="3F3F3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Timeline</a:t>
                      </a:r>
                      <a:endParaRPr lang="en-IN" sz="1600" dirty="0">
                        <a:solidFill>
                          <a:srgbClr val="3F3F3F"/>
                        </a:solidFill>
                      </a:endParaRPr>
                    </a:p>
                  </a:txBody>
                  <a:tcPr marL="94257" marR="9425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dirty="0" smtClean="0">
                          <a:solidFill>
                            <a:srgbClr val="3F3F3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</a:t>
                      </a:r>
                      <a:r>
                        <a:rPr lang="en-US" sz="1600" b="1" i="0" u="none" strike="noStrike" kern="1200" baseline="0" dirty="0" smtClean="0">
                          <a:solidFill>
                            <a:srgbClr val="3F3F3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week </a:t>
                      </a:r>
                      <a:endParaRPr lang="en-IN" sz="1600" dirty="0">
                        <a:solidFill>
                          <a:srgbClr val="3F3F3F"/>
                        </a:solidFill>
                      </a:endParaRPr>
                    </a:p>
                  </a:txBody>
                  <a:tcPr marL="94257" marR="9425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u="none" strike="noStrike" kern="1200" dirty="0" smtClean="0">
                          <a:solidFill>
                            <a:srgbClr val="3F3F3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Second week</a:t>
                      </a:r>
                      <a:endParaRPr lang="en-IN" sz="1600" dirty="0">
                        <a:solidFill>
                          <a:srgbClr val="3F3F3F"/>
                        </a:solidFill>
                      </a:endParaRPr>
                    </a:p>
                  </a:txBody>
                  <a:tcPr marL="94257" marR="9425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i="0" u="none" strike="noStrike" kern="1200" dirty="0" smtClean="0">
                          <a:solidFill>
                            <a:srgbClr val="3F3F3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Third week</a:t>
                      </a:r>
                      <a:endParaRPr lang="en-IN" sz="1600" dirty="0">
                        <a:solidFill>
                          <a:srgbClr val="3F3F3F"/>
                        </a:solidFill>
                      </a:endParaRPr>
                    </a:p>
                  </a:txBody>
                  <a:tcPr marL="94257" marR="9425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u="none" strike="noStrike" kern="1200" dirty="0" smtClean="0">
                          <a:solidFill>
                            <a:srgbClr val="3F3F3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Fourth</a:t>
                      </a:r>
                      <a:r>
                        <a:rPr lang="en-US" sz="1600" b="1" i="0" u="none" strike="noStrike" kern="1200" baseline="0" dirty="0" smtClean="0">
                          <a:solidFill>
                            <a:srgbClr val="3F3F3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week</a:t>
                      </a:r>
                      <a:endParaRPr lang="en-IN" sz="1600" dirty="0">
                        <a:solidFill>
                          <a:srgbClr val="3F3F3F"/>
                        </a:solidFill>
                      </a:endParaRPr>
                    </a:p>
                  </a:txBody>
                  <a:tcPr marL="94257" marR="94257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579220"/>
                  </a:ext>
                </a:extLst>
              </a:tr>
              <a:tr h="698309">
                <a:tc>
                  <a:txBody>
                    <a:bodyPr/>
                    <a:lstStyle/>
                    <a:p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94257"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Recruitment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planning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Organization</a:t>
                      </a:r>
                      <a:r>
                        <a:rPr lang="en-IN" sz="16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development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personnel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6563405"/>
                  </a:ext>
                </a:extLst>
              </a:tr>
              <a:tr h="698309">
                <a:tc>
                  <a:txBody>
                    <a:bodyPr/>
                    <a:lstStyle/>
                    <a:p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July</a:t>
                      </a:r>
                      <a:r>
                        <a:rPr lang="en-IN" sz="16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94257"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</a:t>
                      </a:r>
                      <a:r>
                        <a:rPr lang="ar-EG" sz="16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6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ar-EG" sz="16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6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ben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Training and development 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Health – safety 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personnel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125693"/>
                  </a:ext>
                </a:extLst>
              </a:tr>
              <a:tr h="698309">
                <a:tc>
                  <a:txBody>
                    <a:bodyPr/>
                    <a:lstStyle/>
                    <a:p>
                      <a:r>
                        <a:rPr lang="en-IN" sz="16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August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94257" anchor="ctr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Performance management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Organization</a:t>
                      </a:r>
                      <a:r>
                        <a:rPr lang="en-IN" sz="16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development</a:t>
                      </a:r>
                      <a:r>
                        <a:rPr lang="en-IN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planning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personnel</a:t>
                      </a:r>
                      <a:endParaRPr lang="en-IN" sz="16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94257" marR="94257"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032543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64F18-9B71-4D59-80A4-C9436CB2F47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70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3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27928_Hexagon presentation dark_AAS_v4" id="{00715B48-F6B0-4FD0-BA2D-34714F23D55A}" vid="{445656DE-313E-4A78-B834-A775A8573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40343A-75DB-4E03-95EA-4A75BA0D7FF2}">
  <ds:schemaRefs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9C3589D-EF2D-4AF3-8B55-088F4B14D6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B759597-1FA4-4F46-9BA8-01240C5602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696</Words>
  <Application>Microsoft Office PowerPoint</Application>
  <PresentationFormat>Widescreen</PresentationFormat>
  <Paragraphs>176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Black</vt:lpstr>
      <vt:lpstr>Bahnschrift</vt:lpstr>
      <vt:lpstr>Calibri</vt:lpstr>
      <vt:lpstr>Calibri Light</vt:lpstr>
      <vt:lpstr>CiscoSans ExtraLight</vt:lpstr>
      <vt:lpstr>Gill Sans SemiBold</vt:lpstr>
      <vt:lpstr>Times New Roman</vt:lpstr>
      <vt:lpstr>Office Theme</vt:lpstr>
      <vt:lpstr>Presentation MAKER</vt:lpstr>
      <vt:lpstr>Human resources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Operation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2021-05-29T12:20:19Z</dcterms:created>
  <dcterms:modified xsi:type="dcterms:W3CDTF">2023-07-03T14:40:09Z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